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1" d="100"/>
          <a:sy n="91" d="100"/>
        </p:scale>
        <p:origin x="341" y="1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D50F88-EB27-7F6B-8C40-0746A0FEB66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5C93D9A-25BB-0C42-5CD5-E8FDD36D897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79650E8-9409-5109-041E-FAA3E2D3FAD0}"/>
              </a:ext>
            </a:extLst>
          </p:cNvPr>
          <p:cNvSpPr>
            <a:spLocks noGrp="1"/>
          </p:cNvSpPr>
          <p:nvPr>
            <p:ph type="dt" sz="half" idx="10"/>
          </p:nvPr>
        </p:nvSpPr>
        <p:spPr/>
        <p:txBody>
          <a:bodyPr/>
          <a:lstStyle/>
          <a:p>
            <a:fld id="{2B870021-D516-4065-8785-AFBA13B2E6A0}" type="datetimeFigureOut">
              <a:rPr lang="en-US" smtClean="0"/>
              <a:t>23-Jun-26</a:t>
            </a:fld>
            <a:endParaRPr lang="en-US"/>
          </a:p>
        </p:txBody>
      </p:sp>
      <p:sp>
        <p:nvSpPr>
          <p:cNvPr id="5" name="Footer Placeholder 4">
            <a:extLst>
              <a:ext uri="{FF2B5EF4-FFF2-40B4-BE49-F238E27FC236}">
                <a16:creationId xmlns:a16="http://schemas.microsoft.com/office/drawing/2014/main" id="{100493AD-52B4-5C0B-644E-7B731BA1FB1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543B859-B5B2-CC9B-7912-5DA30638DA1E}"/>
              </a:ext>
            </a:extLst>
          </p:cNvPr>
          <p:cNvSpPr>
            <a:spLocks noGrp="1"/>
          </p:cNvSpPr>
          <p:nvPr>
            <p:ph type="sldNum" sz="quarter" idx="12"/>
          </p:nvPr>
        </p:nvSpPr>
        <p:spPr/>
        <p:txBody>
          <a:bodyPr/>
          <a:lstStyle/>
          <a:p>
            <a:fld id="{B30E63D6-6BBF-454D-8D07-179E27AA74EA}" type="slidenum">
              <a:rPr lang="en-US" smtClean="0"/>
              <a:t>‹#›</a:t>
            </a:fld>
            <a:endParaRPr lang="en-US"/>
          </a:p>
        </p:txBody>
      </p:sp>
    </p:spTree>
    <p:extLst>
      <p:ext uri="{BB962C8B-B14F-4D97-AF65-F5344CB8AC3E}">
        <p14:creationId xmlns:p14="http://schemas.microsoft.com/office/powerpoint/2010/main" val="16438254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191EFB-6750-E7C1-0FFC-86A8DA277E0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73F151D-E71B-53CF-B6DF-66F45FB798F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D4BCBC0-ACBD-682A-0D36-9F665869B77B}"/>
              </a:ext>
            </a:extLst>
          </p:cNvPr>
          <p:cNvSpPr>
            <a:spLocks noGrp="1"/>
          </p:cNvSpPr>
          <p:nvPr>
            <p:ph type="dt" sz="half" idx="10"/>
          </p:nvPr>
        </p:nvSpPr>
        <p:spPr/>
        <p:txBody>
          <a:bodyPr/>
          <a:lstStyle/>
          <a:p>
            <a:fld id="{2B870021-D516-4065-8785-AFBA13B2E6A0}" type="datetimeFigureOut">
              <a:rPr lang="en-US" smtClean="0"/>
              <a:t>23-Jun-26</a:t>
            </a:fld>
            <a:endParaRPr lang="en-US"/>
          </a:p>
        </p:txBody>
      </p:sp>
      <p:sp>
        <p:nvSpPr>
          <p:cNvPr id="5" name="Footer Placeholder 4">
            <a:extLst>
              <a:ext uri="{FF2B5EF4-FFF2-40B4-BE49-F238E27FC236}">
                <a16:creationId xmlns:a16="http://schemas.microsoft.com/office/drawing/2014/main" id="{87F04E07-26FC-BDB4-DCB5-7EF27A62C35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94FDE9A-7137-38F4-43F6-B6084F08127E}"/>
              </a:ext>
            </a:extLst>
          </p:cNvPr>
          <p:cNvSpPr>
            <a:spLocks noGrp="1"/>
          </p:cNvSpPr>
          <p:nvPr>
            <p:ph type="sldNum" sz="quarter" idx="12"/>
          </p:nvPr>
        </p:nvSpPr>
        <p:spPr/>
        <p:txBody>
          <a:bodyPr/>
          <a:lstStyle/>
          <a:p>
            <a:fld id="{B30E63D6-6BBF-454D-8D07-179E27AA74EA}" type="slidenum">
              <a:rPr lang="en-US" smtClean="0"/>
              <a:t>‹#›</a:t>
            </a:fld>
            <a:endParaRPr lang="en-US"/>
          </a:p>
        </p:txBody>
      </p:sp>
    </p:spTree>
    <p:extLst>
      <p:ext uri="{BB962C8B-B14F-4D97-AF65-F5344CB8AC3E}">
        <p14:creationId xmlns:p14="http://schemas.microsoft.com/office/powerpoint/2010/main" val="26056501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C58A06-AD6C-636E-600B-1AE04B72B92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0A1A1F6-FAF5-F994-0FC0-D7C228E9901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19D8197-BD3E-C1D6-F4DB-ED00646A394C}"/>
              </a:ext>
            </a:extLst>
          </p:cNvPr>
          <p:cNvSpPr>
            <a:spLocks noGrp="1"/>
          </p:cNvSpPr>
          <p:nvPr>
            <p:ph type="dt" sz="half" idx="10"/>
          </p:nvPr>
        </p:nvSpPr>
        <p:spPr/>
        <p:txBody>
          <a:bodyPr/>
          <a:lstStyle/>
          <a:p>
            <a:fld id="{2B870021-D516-4065-8785-AFBA13B2E6A0}" type="datetimeFigureOut">
              <a:rPr lang="en-US" smtClean="0"/>
              <a:t>23-Jun-26</a:t>
            </a:fld>
            <a:endParaRPr lang="en-US"/>
          </a:p>
        </p:txBody>
      </p:sp>
      <p:sp>
        <p:nvSpPr>
          <p:cNvPr id="5" name="Footer Placeholder 4">
            <a:extLst>
              <a:ext uri="{FF2B5EF4-FFF2-40B4-BE49-F238E27FC236}">
                <a16:creationId xmlns:a16="http://schemas.microsoft.com/office/drawing/2014/main" id="{E462D407-4F36-7077-1CDF-1F2779DB2C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D97F2A0-CE4A-05DA-D4E4-95A0DB36BFA5}"/>
              </a:ext>
            </a:extLst>
          </p:cNvPr>
          <p:cNvSpPr>
            <a:spLocks noGrp="1"/>
          </p:cNvSpPr>
          <p:nvPr>
            <p:ph type="sldNum" sz="quarter" idx="12"/>
          </p:nvPr>
        </p:nvSpPr>
        <p:spPr/>
        <p:txBody>
          <a:bodyPr/>
          <a:lstStyle/>
          <a:p>
            <a:fld id="{B30E63D6-6BBF-454D-8D07-179E27AA74EA}" type="slidenum">
              <a:rPr lang="en-US" smtClean="0"/>
              <a:t>‹#›</a:t>
            </a:fld>
            <a:endParaRPr lang="en-US"/>
          </a:p>
        </p:txBody>
      </p:sp>
    </p:spTree>
    <p:extLst>
      <p:ext uri="{BB962C8B-B14F-4D97-AF65-F5344CB8AC3E}">
        <p14:creationId xmlns:p14="http://schemas.microsoft.com/office/powerpoint/2010/main" val="38139011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E0F9EE-33DC-DD32-D8A2-FD8F23EFC68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C6A15CC-9027-CF05-DAAC-8BC44EBDFDA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F96FF7F-7FEB-8169-BDE4-FA10699763B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D79C74B-FA15-3729-28C2-56E674766A7D}"/>
              </a:ext>
            </a:extLst>
          </p:cNvPr>
          <p:cNvSpPr>
            <a:spLocks noGrp="1"/>
          </p:cNvSpPr>
          <p:nvPr>
            <p:ph type="dt" sz="half" idx="10"/>
          </p:nvPr>
        </p:nvSpPr>
        <p:spPr/>
        <p:txBody>
          <a:bodyPr/>
          <a:lstStyle/>
          <a:p>
            <a:fld id="{2B870021-D516-4065-8785-AFBA13B2E6A0}" type="datetimeFigureOut">
              <a:rPr lang="en-US" smtClean="0"/>
              <a:t>23-Jun-26</a:t>
            </a:fld>
            <a:endParaRPr lang="en-US"/>
          </a:p>
        </p:txBody>
      </p:sp>
      <p:sp>
        <p:nvSpPr>
          <p:cNvPr id="6" name="Footer Placeholder 5">
            <a:extLst>
              <a:ext uri="{FF2B5EF4-FFF2-40B4-BE49-F238E27FC236}">
                <a16:creationId xmlns:a16="http://schemas.microsoft.com/office/drawing/2014/main" id="{A294B3E6-44BD-3CBC-FBDA-41674D7EA9D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EEF61D9-52E6-466D-CC3C-7F6C1225F811}"/>
              </a:ext>
            </a:extLst>
          </p:cNvPr>
          <p:cNvSpPr>
            <a:spLocks noGrp="1"/>
          </p:cNvSpPr>
          <p:nvPr>
            <p:ph type="sldNum" sz="quarter" idx="12"/>
          </p:nvPr>
        </p:nvSpPr>
        <p:spPr/>
        <p:txBody>
          <a:bodyPr/>
          <a:lstStyle/>
          <a:p>
            <a:fld id="{B30E63D6-6BBF-454D-8D07-179E27AA74EA}" type="slidenum">
              <a:rPr lang="en-US" smtClean="0"/>
              <a:t>‹#›</a:t>
            </a:fld>
            <a:endParaRPr lang="en-US"/>
          </a:p>
        </p:txBody>
      </p:sp>
    </p:spTree>
    <p:extLst>
      <p:ext uri="{BB962C8B-B14F-4D97-AF65-F5344CB8AC3E}">
        <p14:creationId xmlns:p14="http://schemas.microsoft.com/office/powerpoint/2010/main" val="15407328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38E0F8-8D75-F1E1-29DC-104FA0CCEE0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E45CC56-28F3-1C10-BC1A-F17756C08E3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4A8EA2-9607-C096-8B2D-2FF84A0C61D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11B672F-7797-F157-5103-6BFBEB2280F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5C80360-9101-36D4-1FC6-2E1233AAB82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6AC74FA-093B-BE83-DC87-8BA1D1D259A2}"/>
              </a:ext>
            </a:extLst>
          </p:cNvPr>
          <p:cNvSpPr>
            <a:spLocks noGrp="1"/>
          </p:cNvSpPr>
          <p:nvPr>
            <p:ph type="dt" sz="half" idx="10"/>
          </p:nvPr>
        </p:nvSpPr>
        <p:spPr/>
        <p:txBody>
          <a:bodyPr/>
          <a:lstStyle/>
          <a:p>
            <a:fld id="{2B870021-D516-4065-8785-AFBA13B2E6A0}" type="datetimeFigureOut">
              <a:rPr lang="en-US" smtClean="0"/>
              <a:t>23-Jun-26</a:t>
            </a:fld>
            <a:endParaRPr lang="en-US"/>
          </a:p>
        </p:txBody>
      </p:sp>
      <p:sp>
        <p:nvSpPr>
          <p:cNvPr id="8" name="Footer Placeholder 7">
            <a:extLst>
              <a:ext uri="{FF2B5EF4-FFF2-40B4-BE49-F238E27FC236}">
                <a16:creationId xmlns:a16="http://schemas.microsoft.com/office/drawing/2014/main" id="{FAD6DC67-1D2E-13B5-A963-DF443D3418D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CC33E23-567B-F243-0F79-3D8FFBD09BF2}"/>
              </a:ext>
            </a:extLst>
          </p:cNvPr>
          <p:cNvSpPr>
            <a:spLocks noGrp="1"/>
          </p:cNvSpPr>
          <p:nvPr>
            <p:ph type="sldNum" sz="quarter" idx="12"/>
          </p:nvPr>
        </p:nvSpPr>
        <p:spPr/>
        <p:txBody>
          <a:bodyPr/>
          <a:lstStyle/>
          <a:p>
            <a:fld id="{B30E63D6-6BBF-454D-8D07-179E27AA74EA}" type="slidenum">
              <a:rPr lang="en-US" smtClean="0"/>
              <a:t>‹#›</a:t>
            </a:fld>
            <a:endParaRPr lang="en-US"/>
          </a:p>
        </p:txBody>
      </p:sp>
    </p:spTree>
    <p:extLst>
      <p:ext uri="{BB962C8B-B14F-4D97-AF65-F5344CB8AC3E}">
        <p14:creationId xmlns:p14="http://schemas.microsoft.com/office/powerpoint/2010/main" val="31275461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DFEAD-E556-5864-456B-1BF706683C1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D486208-AF82-7CE1-A621-DF25520C08E6}"/>
              </a:ext>
            </a:extLst>
          </p:cNvPr>
          <p:cNvSpPr>
            <a:spLocks noGrp="1"/>
          </p:cNvSpPr>
          <p:nvPr>
            <p:ph type="dt" sz="half" idx="10"/>
          </p:nvPr>
        </p:nvSpPr>
        <p:spPr/>
        <p:txBody>
          <a:bodyPr/>
          <a:lstStyle/>
          <a:p>
            <a:fld id="{2B870021-D516-4065-8785-AFBA13B2E6A0}" type="datetimeFigureOut">
              <a:rPr lang="en-US" smtClean="0"/>
              <a:t>23-Jun-26</a:t>
            </a:fld>
            <a:endParaRPr lang="en-US"/>
          </a:p>
        </p:txBody>
      </p:sp>
      <p:sp>
        <p:nvSpPr>
          <p:cNvPr id="4" name="Footer Placeholder 3">
            <a:extLst>
              <a:ext uri="{FF2B5EF4-FFF2-40B4-BE49-F238E27FC236}">
                <a16:creationId xmlns:a16="http://schemas.microsoft.com/office/drawing/2014/main" id="{23D4A74E-C542-18B3-BF70-9EF26CA460F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4ABF2C4-AD75-DE19-A3AB-3C812ED344D9}"/>
              </a:ext>
            </a:extLst>
          </p:cNvPr>
          <p:cNvSpPr>
            <a:spLocks noGrp="1"/>
          </p:cNvSpPr>
          <p:nvPr>
            <p:ph type="sldNum" sz="quarter" idx="12"/>
          </p:nvPr>
        </p:nvSpPr>
        <p:spPr/>
        <p:txBody>
          <a:bodyPr/>
          <a:lstStyle/>
          <a:p>
            <a:fld id="{B30E63D6-6BBF-454D-8D07-179E27AA74EA}" type="slidenum">
              <a:rPr lang="en-US" smtClean="0"/>
              <a:t>‹#›</a:t>
            </a:fld>
            <a:endParaRPr lang="en-US"/>
          </a:p>
        </p:txBody>
      </p:sp>
    </p:spTree>
    <p:extLst>
      <p:ext uri="{BB962C8B-B14F-4D97-AF65-F5344CB8AC3E}">
        <p14:creationId xmlns:p14="http://schemas.microsoft.com/office/powerpoint/2010/main" val="3094445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B05099B-C8FB-3336-F5EC-6C19160F821E}"/>
              </a:ext>
            </a:extLst>
          </p:cNvPr>
          <p:cNvSpPr>
            <a:spLocks noGrp="1"/>
          </p:cNvSpPr>
          <p:nvPr>
            <p:ph type="dt" sz="half" idx="10"/>
          </p:nvPr>
        </p:nvSpPr>
        <p:spPr/>
        <p:txBody>
          <a:bodyPr/>
          <a:lstStyle/>
          <a:p>
            <a:fld id="{2B870021-D516-4065-8785-AFBA13B2E6A0}" type="datetimeFigureOut">
              <a:rPr lang="en-US" smtClean="0"/>
              <a:t>23-Jun-26</a:t>
            </a:fld>
            <a:endParaRPr lang="en-US"/>
          </a:p>
        </p:txBody>
      </p:sp>
      <p:sp>
        <p:nvSpPr>
          <p:cNvPr id="3" name="Footer Placeholder 2">
            <a:extLst>
              <a:ext uri="{FF2B5EF4-FFF2-40B4-BE49-F238E27FC236}">
                <a16:creationId xmlns:a16="http://schemas.microsoft.com/office/drawing/2014/main" id="{4D6CE414-236B-DFB8-D771-AC437EB06B3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A91D4BB-4FAA-A3AD-A958-7B85B374FF0A}"/>
              </a:ext>
            </a:extLst>
          </p:cNvPr>
          <p:cNvSpPr>
            <a:spLocks noGrp="1"/>
          </p:cNvSpPr>
          <p:nvPr>
            <p:ph type="sldNum" sz="quarter" idx="12"/>
          </p:nvPr>
        </p:nvSpPr>
        <p:spPr/>
        <p:txBody>
          <a:bodyPr/>
          <a:lstStyle/>
          <a:p>
            <a:fld id="{B30E63D6-6BBF-454D-8D07-179E27AA74EA}" type="slidenum">
              <a:rPr lang="en-US" smtClean="0"/>
              <a:t>‹#›</a:t>
            </a:fld>
            <a:endParaRPr lang="en-US"/>
          </a:p>
        </p:txBody>
      </p:sp>
    </p:spTree>
    <p:extLst>
      <p:ext uri="{BB962C8B-B14F-4D97-AF65-F5344CB8AC3E}">
        <p14:creationId xmlns:p14="http://schemas.microsoft.com/office/powerpoint/2010/main" val="32853707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008118-2137-3120-C67A-6A79A574354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BEDAF50-40B5-D60A-9E15-E904A8E5B62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5B61BC5-01AF-49E6-B91A-7C0DEA8044D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6880D41-6935-60E7-E019-5105638E569B}"/>
              </a:ext>
            </a:extLst>
          </p:cNvPr>
          <p:cNvSpPr>
            <a:spLocks noGrp="1"/>
          </p:cNvSpPr>
          <p:nvPr>
            <p:ph type="dt" sz="half" idx="10"/>
          </p:nvPr>
        </p:nvSpPr>
        <p:spPr/>
        <p:txBody>
          <a:bodyPr/>
          <a:lstStyle/>
          <a:p>
            <a:fld id="{2B870021-D516-4065-8785-AFBA13B2E6A0}" type="datetimeFigureOut">
              <a:rPr lang="en-US" smtClean="0"/>
              <a:t>23-Jun-26</a:t>
            </a:fld>
            <a:endParaRPr lang="en-US"/>
          </a:p>
        </p:txBody>
      </p:sp>
      <p:sp>
        <p:nvSpPr>
          <p:cNvPr id="6" name="Footer Placeholder 5">
            <a:extLst>
              <a:ext uri="{FF2B5EF4-FFF2-40B4-BE49-F238E27FC236}">
                <a16:creationId xmlns:a16="http://schemas.microsoft.com/office/drawing/2014/main" id="{AD21E46B-AB95-5C9B-7849-B74F7E5E769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F65312F-E86F-DB01-907D-012FA2CA7A57}"/>
              </a:ext>
            </a:extLst>
          </p:cNvPr>
          <p:cNvSpPr>
            <a:spLocks noGrp="1"/>
          </p:cNvSpPr>
          <p:nvPr>
            <p:ph type="sldNum" sz="quarter" idx="12"/>
          </p:nvPr>
        </p:nvSpPr>
        <p:spPr/>
        <p:txBody>
          <a:bodyPr/>
          <a:lstStyle/>
          <a:p>
            <a:fld id="{B30E63D6-6BBF-454D-8D07-179E27AA74EA}" type="slidenum">
              <a:rPr lang="en-US" smtClean="0"/>
              <a:t>‹#›</a:t>
            </a:fld>
            <a:endParaRPr lang="en-US"/>
          </a:p>
        </p:txBody>
      </p:sp>
    </p:spTree>
    <p:extLst>
      <p:ext uri="{BB962C8B-B14F-4D97-AF65-F5344CB8AC3E}">
        <p14:creationId xmlns:p14="http://schemas.microsoft.com/office/powerpoint/2010/main" val="9814870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25B025-64DC-3634-5195-BCCC1F401E8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CD4CE0F-106D-1D18-2035-28BDE5C4991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74F5391-C508-8AF1-2998-DA9B3F7FFC6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62DA96E-0699-A173-5DDB-DE2522D22EFB}"/>
              </a:ext>
            </a:extLst>
          </p:cNvPr>
          <p:cNvSpPr>
            <a:spLocks noGrp="1"/>
          </p:cNvSpPr>
          <p:nvPr>
            <p:ph type="dt" sz="half" idx="10"/>
          </p:nvPr>
        </p:nvSpPr>
        <p:spPr/>
        <p:txBody>
          <a:bodyPr/>
          <a:lstStyle/>
          <a:p>
            <a:fld id="{2B870021-D516-4065-8785-AFBA13B2E6A0}" type="datetimeFigureOut">
              <a:rPr lang="en-US" smtClean="0"/>
              <a:t>23-Jun-26</a:t>
            </a:fld>
            <a:endParaRPr lang="en-US"/>
          </a:p>
        </p:txBody>
      </p:sp>
      <p:sp>
        <p:nvSpPr>
          <p:cNvPr id="6" name="Footer Placeholder 5">
            <a:extLst>
              <a:ext uri="{FF2B5EF4-FFF2-40B4-BE49-F238E27FC236}">
                <a16:creationId xmlns:a16="http://schemas.microsoft.com/office/drawing/2014/main" id="{69733784-C3B4-5A39-3EA1-C2D068DA8AE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5D83540-7919-A049-0B58-0DE1E8F0CB1F}"/>
              </a:ext>
            </a:extLst>
          </p:cNvPr>
          <p:cNvSpPr>
            <a:spLocks noGrp="1"/>
          </p:cNvSpPr>
          <p:nvPr>
            <p:ph type="sldNum" sz="quarter" idx="12"/>
          </p:nvPr>
        </p:nvSpPr>
        <p:spPr/>
        <p:txBody>
          <a:bodyPr/>
          <a:lstStyle/>
          <a:p>
            <a:fld id="{B30E63D6-6BBF-454D-8D07-179E27AA74EA}" type="slidenum">
              <a:rPr lang="en-US" smtClean="0"/>
              <a:t>‹#›</a:t>
            </a:fld>
            <a:endParaRPr lang="en-US"/>
          </a:p>
        </p:txBody>
      </p:sp>
    </p:spTree>
    <p:extLst>
      <p:ext uri="{BB962C8B-B14F-4D97-AF65-F5344CB8AC3E}">
        <p14:creationId xmlns:p14="http://schemas.microsoft.com/office/powerpoint/2010/main" val="10774069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FF2994-C94B-0F90-5350-9B1A895258C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B158A05-AF2B-F90B-0DE7-CD174079639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1CBF7B9-9404-AB9C-F338-160F9EB1AD8D}"/>
              </a:ext>
            </a:extLst>
          </p:cNvPr>
          <p:cNvSpPr>
            <a:spLocks noGrp="1"/>
          </p:cNvSpPr>
          <p:nvPr>
            <p:ph type="dt" sz="half" idx="10"/>
          </p:nvPr>
        </p:nvSpPr>
        <p:spPr/>
        <p:txBody>
          <a:bodyPr/>
          <a:lstStyle/>
          <a:p>
            <a:fld id="{2B870021-D516-4065-8785-AFBA13B2E6A0}" type="datetimeFigureOut">
              <a:rPr lang="en-US" smtClean="0"/>
              <a:t>23-Jun-26</a:t>
            </a:fld>
            <a:endParaRPr lang="en-US"/>
          </a:p>
        </p:txBody>
      </p:sp>
      <p:sp>
        <p:nvSpPr>
          <p:cNvPr id="5" name="Footer Placeholder 4">
            <a:extLst>
              <a:ext uri="{FF2B5EF4-FFF2-40B4-BE49-F238E27FC236}">
                <a16:creationId xmlns:a16="http://schemas.microsoft.com/office/drawing/2014/main" id="{10EDE70F-BF99-9734-CD60-667D81040E8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F71CFD8-D955-5122-F7C5-B52F1C53A558}"/>
              </a:ext>
            </a:extLst>
          </p:cNvPr>
          <p:cNvSpPr>
            <a:spLocks noGrp="1"/>
          </p:cNvSpPr>
          <p:nvPr>
            <p:ph type="sldNum" sz="quarter" idx="12"/>
          </p:nvPr>
        </p:nvSpPr>
        <p:spPr/>
        <p:txBody>
          <a:bodyPr/>
          <a:lstStyle/>
          <a:p>
            <a:fld id="{B30E63D6-6BBF-454D-8D07-179E27AA74EA}" type="slidenum">
              <a:rPr lang="en-US" smtClean="0"/>
              <a:t>‹#›</a:t>
            </a:fld>
            <a:endParaRPr lang="en-US"/>
          </a:p>
        </p:txBody>
      </p:sp>
    </p:spTree>
    <p:extLst>
      <p:ext uri="{BB962C8B-B14F-4D97-AF65-F5344CB8AC3E}">
        <p14:creationId xmlns:p14="http://schemas.microsoft.com/office/powerpoint/2010/main" val="11290244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39E96CA-4E9A-08ED-88FA-BFACD2F082D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2BE2610-6DD8-E8AA-FA21-8DF5283E693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9511C9B-EAB8-2FC0-92CE-212A8D1EB5C6}"/>
              </a:ext>
            </a:extLst>
          </p:cNvPr>
          <p:cNvSpPr>
            <a:spLocks noGrp="1"/>
          </p:cNvSpPr>
          <p:nvPr>
            <p:ph type="dt" sz="half" idx="10"/>
          </p:nvPr>
        </p:nvSpPr>
        <p:spPr/>
        <p:txBody>
          <a:bodyPr/>
          <a:lstStyle/>
          <a:p>
            <a:fld id="{2B870021-D516-4065-8785-AFBA13B2E6A0}" type="datetimeFigureOut">
              <a:rPr lang="en-US" smtClean="0"/>
              <a:t>23-Jun-26</a:t>
            </a:fld>
            <a:endParaRPr lang="en-US"/>
          </a:p>
        </p:txBody>
      </p:sp>
      <p:sp>
        <p:nvSpPr>
          <p:cNvPr id="5" name="Footer Placeholder 4">
            <a:extLst>
              <a:ext uri="{FF2B5EF4-FFF2-40B4-BE49-F238E27FC236}">
                <a16:creationId xmlns:a16="http://schemas.microsoft.com/office/drawing/2014/main" id="{58665829-6F22-21DA-BD4F-43C3906B873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F7AD8A-A01F-C796-A508-629A85771DD8}"/>
              </a:ext>
            </a:extLst>
          </p:cNvPr>
          <p:cNvSpPr>
            <a:spLocks noGrp="1"/>
          </p:cNvSpPr>
          <p:nvPr>
            <p:ph type="sldNum" sz="quarter" idx="12"/>
          </p:nvPr>
        </p:nvSpPr>
        <p:spPr/>
        <p:txBody>
          <a:bodyPr/>
          <a:lstStyle/>
          <a:p>
            <a:fld id="{B30E63D6-6BBF-454D-8D07-179E27AA74EA}" type="slidenum">
              <a:rPr lang="en-US" smtClean="0"/>
              <a:t>‹#›</a:t>
            </a:fld>
            <a:endParaRPr lang="en-US"/>
          </a:p>
        </p:txBody>
      </p:sp>
    </p:spTree>
    <p:extLst>
      <p:ext uri="{BB962C8B-B14F-4D97-AF65-F5344CB8AC3E}">
        <p14:creationId xmlns:p14="http://schemas.microsoft.com/office/powerpoint/2010/main" val="14642814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5AD089C-C4ED-CBA0-7C5A-06B7DD67C00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505597D-A921-2A76-5B69-9EE7FD40ADE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FF85497-5544-9E31-1DB6-1985E1A53F6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B870021-D516-4065-8785-AFBA13B2E6A0}" type="datetimeFigureOut">
              <a:rPr lang="en-US" smtClean="0"/>
              <a:t>23-Jun-26</a:t>
            </a:fld>
            <a:endParaRPr lang="en-US"/>
          </a:p>
        </p:txBody>
      </p:sp>
      <p:sp>
        <p:nvSpPr>
          <p:cNvPr id="5" name="Footer Placeholder 4">
            <a:extLst>
              <a:ext uri="{FF2B5EF4-FFF2-40B4-BE49-F238E27FC236}">
                <a16:creationId xmlns:a16="http://schemas.microsoft.com/office/drawing/2014/main" id="{2AB515F8-BB9A-E030-A74F-FC462F8F48C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24EF9B7-7715-9054-F32A-11F98CB8D05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30E63D6-6BBF-454D-8D07-179E27AA74EA}" type="slidenum">
              <a:rPr lang="en-US" smtClean="0"/>
              <a:t>‹#›</a:t>
            </a:fld>
            <a:endParaRPr lang="en-US"/>
          </a:p>
        </p:txBody>
      </p:sp>
    </p:spTree>
    <p:extLst>
      <p:ext uri="{BB962C8B-B14F-4D97-AF65-F5344CB8AC3E}">
        <p14:creationId xmlns:p14="http://schemas.microsoft.com/office/powerpoint/2010/main" val="23445759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mailto:al***@***.com" TargetMode="External"/><Relationship Id="rId2" Type="http://schemas.openxmlformats.org/officeDocument/2006/relationships/hyperlink" Target="mailto:alice@example.com"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D94743-539E-DB0A-6F32-1A4F4EC5CB30}"/>
              </a:ext>
            </a:extLst>
          </p:cNvPr>
          <p:cNvSpPr>
            <a:spLocks noGrp="1"/>
          </p:cNvSpPr>
          <p:nvPr>
            <p:ph type="ctrTitle"/>
          </p:nvPr>
        </p:nvSpPr>
        <p:spPr/>
        <p:txBody>
          <a:bodyPr/>
          <a:lstStyle/>
          <a:p>
            <a:r>
              <a:rPr lang="sr-Latn-RS"/>
              <a:t>Maskiranje podataka u PostgreSQL</a:t>
            </a:r>
            <a:endParaRPr lang="en-US"/>
          </a:p>
        </p:txBody>
      </p:sp>
      <p:sp>
        <p:nvSpPr>
          <p:cNvPr id="3" name="Subtitle 2">
            <a:extLst>
              <a:ext uri="{FF2B5EF4-FFF2-40B4-BE49-F238E27FC236}">
                <a16:creationId xmlns:a16="http://schemas.microsoft.com/office/drawing/2014/main" id="{859CA083-28D8-C7C5-A1FD-78C859FDAD3F}"/>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7246765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8FA547-2A5F-1024-9F18-34E57D13E5D4}"/>
              </a:ext>
            </a:extLst>
          </p:cNvPr>
          <p:cNvSpPr>
            <a:spLocks noGrp="1"/>
          </p:cNvSpPr>
          <p:nvPr>
            <p:ph type="title"/>
          </p:nvPr>
        </p:nvSpPr>
        <p:spPr>
          <a:xfrm>
            <a:off x="838200" y="365125"/>
            <a:ext cx="6356927" cy="1325563"/>
          </a:xfrm>
        </p:spPr>
        <p:txBody>
          <a:bodyPr/>
          <a:lstStyle/>
          <a:p>
            <a:r>
              <a:rPr lang="sr-Latn-RS" dirty="0"/>
              <a:t>Šta je to maskiranje podataka?</a:t>
            </a:r>
            <a:endParaRPr lang="en-US" dirty="0"/>
          </a:p>
        </p:txBody>
      </p:sp>
      <p:sp>
        <p:nvSpPr>
          <p:cNvPr id="3" name="Content Placeholder 2">
            <a:extLst>
              <a:ext uri="{FF2B5EF4-FFF2-40B4-BE49-F238E27FC236}">
                <a16:creationId xmlns:a16="http://schemas.microsoft.com/office/drawing/2014/main" id="{199F77D1-67A7-77E2-9335-255D590FB9B3}"/>
              </a:ext>
            </a:extLst>
          </p:cNvPr>
          <p:cNvSpPr>
            <a:spLocks noGrp="1"/>
          </p:cNvSpPr>
          <p:nvPr>
            <p:ph idx="1"/>
          </p:nvPr>
        </p:nvSpPr>
        <p:spPr>
          <a:xfrm>
            <a:off x="838200" y="1825625"/>
            <a:ext cx="4807591" cy="4351338"/>
          </a:xfrm>
        </p:spPr>
        <p:txBody>
          <a:bodyPr>
            <a:normAutofit fontScale="92500" lnSpcReduction="20000"/>
          </a:bodyPr>
          <a:lstStyle/>
          <a:p>
            <a:r>
              <a:rPr lang="sr-Latn-RS" dirty="0"/>
              <a:t>Maskiranje podataka ili sakrivanje podataka je metoda kojom se podaci transformišu na način da se oteža njihovo povezivanje sa pojedincima.</a:t>
            </a:r>
          </a:p>
          <a:p>
            <a:r>
              <a:rPr lang="sr-Latn-RS" dirty="0"/>
              <a:t>Glavni cilj primene ovoga je da se spreči neovlašćen pristup i zloupotreba podataka čak i u slučaju presretanja, budući da su podaci anonimizovani. Ovim se takođe olakšava testiranje nekog softvera ili obučavanje osoblja za korišćenje programa.</a:t>
            </a:r>
            <a:endParaRPr lang="en-US" dirty="0"/>
          </a:p>
        </p:txBody>
      </p:sp>
      <p:pic>
        <p:nvPicPr>
          <p:cNvPr id="7" name="Picture 6">
            <a:extLst>
              <a:ext uri="{FF2B5EF4-FFF2-40B4-BE49-F238E27FC236}">
                <a16:creationId xmlns:a16="http://schemas.microsoft.com/office/drawing/2014/main" id="{6FFDE4F6-768F-24FC-F7B2-214CEBA276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72292" y="474284"/>
            <a:ext cx="5960621" cy="2820904"/>
          </a:xfrm>
          <a:prstGeom prst="rect">
            <a:avLst/>
          </a:prstGeom>
        </p:spPr>
      </p:pic>
      <p:sp>
        <p:nvSpPr>
          <p:cNvPr id="8" name="Content Placeholder 2">
            <a:extLst>
              <a:ext uri="{FF2B5EF4-FFF2-40B4-BE49-F238E27FC236}">
                <a16:creationId xmlns:a16="http://schemas.microsoft.com/office/drawing/2014/main" id="{71D6010E-705A-8440-B200-1527BBC04424}"/>
              </a:ext>
            </a:extLst>
          </p:cNvPr>
          <p:cNvSpPr txBox="1">
            <a:spLocks/>
          </p:cNvSpPr>
          <p:nvPr/>
        </p:nvSpPr>
        <p:spPr>
          <a:xfrm>
            <a:off x="6096000" y="3295188"/>
            <a:ext cx="4807591" cy="3088528"/>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sr-Latn-RS" dirty="0"/>
              <a:t>Ova praksa je i starija od klasičnih baza podataka, poznat je slučaj kvoterbeka Pitsburg Stilersa, Terija Bredšoa, koji je 3. marta 1983. morao da ode na jednu operaciju ruke. Bolnica u Lujzijani ga je primila Tomasa Brejdija Bredšoa, odnosno Toma Brejdija.</a:t>
            </a:r>
            <a:endParaRPr lang="en-US" dirty="0"/>
          </a:p>
        </p:txBody>
      </p:sp>
    </p:spTree>
    <p:extLst>
      <p:ext uri="{BB962C8B-B14F-4D97-AF65-F5344CB8AC3E}">
        <p14:creationId xmlns:p14="http://schemas.microsoft.com/office/powerpoint/2010/main" val="21604914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28A4EE-6198-FAFB-0F8C-495D762995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E8D2C3-D49B-4EDE-0A1C-CE3E68A79DBE}"/>
              </a:ext>
            </a:extLst>
          </p:cNvPr>
          <p:cNvSpPr>
            <a:spLocks noGrp="1"/>
          </p:cNvSpPr>
          <p:nvPr>
            <p:ph type="title"/>
          </p:nvPr>
        </p:nvSpPr>
        <p:spPr>
          <a:xfrm>
            <a:off x="838200" y="365125"/>
            <a:ext cx="8993697" cy="1325563"/>
          </a:xfrm>
        </p:spPr>
        <p:txBody>
          <a:bodyPr/>
          <a:lstStyle/>
          <a:p>
            <a:r>
              <a:rPr lang="sr-Latn-RS" dirty="0"/>
              <a:t>Šta se sve treba maskirati?</a:t>
            </a:r>
            <a:endParaRPr lang="en-US" dirty="0"/>
          </a:p>
        </p:txBody>
      </p:sp>
      <p:sp>
        <p:nvSpPr>
          <p:cNvPr id="3" name="Content Placeholder 2">
            <a:extLst>
              <a:ext uri="{FF2B5EF4-FFF2-40B4-BE49-F238E27FC236}">
                <a16:creationId xmlns:a16="http://schemas.microsoft.com/office/drawing/2014/main" id="{BF82BDDA-7721-6A95-EA8C-29CDC7ACE097}"/>
              </a:ext>
            </a:extLst>
          </p:cNvPr>
          <p:cNvSpPr>
            <a:spLocks noGrp="1"/>
          </p:cNvSpPr>
          <p:nvPr>
            <p:ph idx="1"/>
          </p:nvPr>
        </p:nvSpPr>
        <p:spPr>
          <a:xfrm>
            <a:off x="838201" y="1825625"/>
            <a:ext cx="6762226" cy="4351338"/>
          </a:xfrm>
        </p:spPr>
        <p:txBody>
          <a:bodyPr>
            <a:normAutofit fontScale="85000" lnSpcReduction="10000"/>
          </a:bodyPr>
          <a:lstStyle/>
          <a:p>
            <a:r>
              <a:rPr lang="sr-Latn-RS" dirty="0"/>
              <a:t>Ne trebaju se svi podaci maskirati, ali opet postoji nekoliko generalnih tipova podataka koji trebaju, i oni su:</a:t>
            </a:r>
            <a:endParaRPr lang="en-US" dirty="0"/>
          </a:p>
          <a:p>
            <a:pPr lvl="1"/>
            <a:r>
              <a:rPr lang="sr-Latn-RS" dirty="0"/>
              <a:t>Podaci koji jedinstveno identifikuju </a:t>
            </a:r>
            <a:r>
              <a:rPr lang="sr-Latn-RS" b="1" dirty="0"/>
              <a:t>(Personally identifiable information - PII)</a:t>
            </a:r>
            <a:r>
              <a:rPr lang="sr-Latn-RS" dirty="0"/>
              <a:t> – bilo koji podaci koji se mogu upotrebiti kako bi se identifikovao neki pojedinac. U ovo spadaju podaci poput ličnog imena, broj pasoša, lične karte, JMBG i ostalo.</a:t>
            </a:r>
            <a:endParaRPr lang="en-US" dirty="0"/>
          </a:p>
          <a:p>
            <a:pPr lvl="1"/>
            <a:r>
              <a:rPr lang="sr-Latn-RS" dirty="0"/>
              <a:t>Zaštićene zdravstvene informacije </a:t>
            </a:r>
            <a:r>
              <a:rPr lang="sr-Latn-RS" b="1" dirty="0"/>
              <a:t>(Protected Health information - PHI) – </a:t>
            </a:r>
            <a:r>
              <a:rPr lang="sr-Latn-RS" dirty="0"/>
              <a:t>podaci koje skupljaju pružaoci zdravstvenih usluga, poput zdravstvene istorije, demografije i laboratorijskih nalaza.</a:t>
            </a:r>
            <a:endParaRPr lang="en-US" dirty="0"/>
          </a:p>
          <a:p>
            <a:pPr lvl="1"/>
            <a:r>
              <a:rPr lang="sr-Latn-RS" dirty="0"/>
              <a:t>Informacije o platnim karticama.</a:t>
            </a:r>
            <a:endParaRPr lang="en-US" dirty="0"/>
          </a:p>
          <a:p>
            <a:pPr lvl="1"/>
            <a:r>
              <a:rPr lang="sr-Latn-RS" dirty="0"/>
              <a:t>Intelektualna svojina – podaci poput izuma, biznis planova, dizajna i tome sličnog.</a:t>
            </a:r>
            <a:endParaRPr lang="en-US" dirty="0"/>
          </a:p>
        </p:txBody>
      </p:sp>
      <p:pic>
        <p:nvPicPr>
          <p:cNvPr id="5" name="Picture 4">
            <a:extLst>
              <a:ext uri="{FF2B5EF4-FFF2-40B4-BE49-F238E27FC236}">
                <a16:creationId xmlns:a16="http://schemas.microsoft.com/office/drawing/2014/main" id="{B4F26F5B-A7BC-E7D9-3FC3-C2C14673BD3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41522" y="1055879"/>
            <a:ext cx="3764606" cy="5121084"/>
          </a:xfrm>
          <a:prstGeom prst="rect">
            <a:avLst/>
          </a:prstGeom>
        </p:spPr>
      </p:pic>
    </p:spTree>
    <p:extLst>
      <p:ext uri="{BB962C8B-B14F-4D97-AF65-F5344CB8AC3E}">
        <p14:creationId xmlns:p14="http://schemas.microsoft.com/office/powerpoint/2010/main" val="13734656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9F6799-29A1-560A-33A7-4D46B444D3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615D6F-142C-4230-CB67-A022E022B469}"/>
              </a:ext>
            </a:extLst>
          </p:cNvPr>
          <p:cNvSpPr>
            <a:spLocks noGrp="1"/>
          </p:cNvSpPr>
          <p:nvPr>
            <p:ph type="title"/>
          </p:nvPr>
        </p:nvSpPr>
        <p:spPr>
          <a:xfrm>
            <a:off x="838201" y="365125"/>
            <a:ext cx="5680046" cy="1325563"/>
          </a:xfrm>
        </p:spPr>
        <p:txBody>
          <a:bodyPr/>
          <a:lstStyle/>
          <a:p>
            <a:r>
              <a:rPr lang="sr-Latn-RS" dirty="0"/>
              <a:t>Tipovi maskiranja</a:t>
            </a:r>
            <a:endParaRPr lang="en-US" dirty="0"/>
          </a:p>
        </p:txBody>
      </p:sp>
      <p:sp>
        <p:nvSpPr>
          <p:cNvPr id="3" name="Content Placeholder 2">
            <a:extLst>
              <a:ext uri="{FF2B5EF4-FFF2-40B4-BE49-F238E27FC236}">
                <a16:creationId xmlns:a16="http://schemas.microsoft.com/office/drawing/2014/main" id="{078F9F12-AB05-914E-839C-C11A02165234}"/>
              </a:ext>
            </a:extLst>
          </p:cNvPr>
          <p:cNvSpPr>
            <a:spLocks noGrp="1"/>
          </p:cNvSpPr>
          <p:nvPr>
            <p:ph idx="1"/>
          </p:nvPr>
        </p:nvSpPr>
        <p:spPr>
          <a:xfrm>
            <a:off x="838201" y="1825625"/>
            <a:ext cx="6762226" cy="4351338"/>
          </a:xfrm>
        </p:spPr>
        <p:txBody>
          <a:bodyPr>
            <a:normAutofit/>
          </a:bodyPr>
          <a:lstStyle/>
          <a:p>
            <a:r>
              <a:rPr lang="sr-Latn-RS" dirty="0"/>
              <a:t>Postoji nekih 4 osnovnih tipova maskiranja podataka:</a:t>
            </a:r>
            <a:endParaRPr lang="en-US" dirty="0"/>
          </a:p>
          <a:p>
            <a:pPr lvl="1"/>
            <a:r>
              <a:rPr lang="sr-Latn-RS" dirty="0"/>
              <a:t>Statičko maskiranje</a:t>
            </a:r>
            <a:endParaRPr lang="en-US" dirty="0"/>
          </a:p>
          <a:p>
            <a:pPr lvl="1"/>
            <a:r>
              <a:rPr lang="sr-Latn-RS" dirty="0"/>
              <a:t>Dinamičko maskiranje</a:t>
            </a:r>
            <a:endParaRPr lang="en-US" dirty="0"/>
          </a:p>
          <a:p>
            <a:pPr lvl="1"/>
            <a:r>
              <a:rPr lang="sr-Latn-RS" dirty="0"/>
              <a:t>U trenutku zahteva</a:t>
            </a:r>
            <a:endParaRPr lang="en-US" dirty="0"/>
          </a:p>
          <a:p>
            <a:pPr lvl="1"/>
            <a:r>
              <a:rPr lang="sr-Latn-RS" dirty="0"/>
              <a:t>Povratno (reversible) maskiranje</a:t>
            </a:r>
            <a:endParaRPr lang="en-US" dirty="0"/>
          </a:p>
        </p:txBody>
      </p:sp>
      <p:pic>
        <p:nvPicPr>
          <p:cNvPr id="6" name="Picture 5">
            <a:extLst>
              <a:ext uri="{FF2B5EF4-FFF2-40B4-BE49-F238E27FC236}">
                <a16:creationId xmlns:a16="http://schemas.microsoft.com/office/drawing/2014/main" id="{E272936C-4AC0-307A-DA1D-92DAD6EEF98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05319" y="585339"/>
            <a:ext cx="4312919" cy="5591624"/>
          </a:xfrm>
          <a:prstGeom prst="rect">
            <a:avLst/>
          </a:prstGeom>
        </p:spPr>
      </p:pic>
    </p:spTree>
    <p:extLst>
      <p:ext uri="{BB962C8B-B14F-4D97-AF65-F5344CB8AC3E}">
        <p14:creationId xmlns:p14="http://schemas.microsoft.com/office/powerpoint/2010/main" val="18125444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74F69E-8C3C-13BF-8FF8-5CE2EECB9B65}"/>
              </a:ext>
            </a:extLst>
          </p:cNvPr>
          <p:cNvSpPr>
            <a:spLocks noGrp="1"/>
          </p:cNvSpPr>
          <p:nvPr>
            <p:ph type="title"/>
          </p:nvPr>
        </p:nvSpPr>
        <p:spPr/>
        <p:txBody>
          <a:bodyPr/>
          <a:lstStyle/>
          <a:p>
            <a:r>
              <a:rPr lang="sr-Latn-RS" dirty="0"/>
              <a:t>Statičko maskiranje podataka</a:t>
            </a:r>
            <a:endParaRPr lang="en-US" dirty="0"/>
          </a:p>
        </p:txBody>
      </p:sp>
      <p:sp>
        <p:nvSpPr>
          <p:cNvPr id="3" name="Content Placeholder 2">
            <a:extLst>
              <a:ext uri="{FF2B5EF4-FFF2-40B4-BE49-F238E27FC236}">
                <a16:creationId xmlns:a16="http://schemas.microsoft.com/office/drawing/2014/main" id="{505E12AD-2E50-B4F7-B162-5C921B729758}"/>
              </a:ext>
            </a:extLst>
          </p:cNvPr>
          <p:cNvSpPr>
            <a:spLocks noGrp="1"/>
          </p:cNvSpPr>
          <p:nvPr>
            <p:ph idx="1"/>
          </p:nvPr>
        </p:nvSpPr>
        <p:spPr>
          <a:xfrm>
            <a:off x="712366" y="1615900"/>
            <a:ext cx="4774035" cy="4351338"/>
          </a:xfrm>
        </p:spPr>
        <p:txBody>
          <a:bodyPr>
            <a:normAutofit fontScale="92500" lnSpcReduction="10000"/>
          </a:bodyPr>
          <a:lstStyle/>
          <a:p>
            <a:r>
              <a:rPr lang="sr-Latn-RS" dirty="0"/>
              <a:t>Statičko maskiranje podataka, poznato i kao SDM (Static Data Masking) je jedan od načina maskiranja podataka gde se njegovi osetljivi delovi menjaju nekim drugim podacima koji su ili sakriveni ili donekle izmenjeni. Najčešće se pravi druga kopija baze u koju se iz originala podaci ubacuju sa izmenama, ali ima i drugih pristupa</a:t>
            </a:r>
            <a:endParaRPr lang="en-US" dirty="0"/>
          </a:p>
        </p:txBody>
      </p:sp>
      <p:graphicFrame>
        <p:nvGraphicFramePr>
          <p:cNvPr id="4" name="Table 3">
            <a:extLst>
              <a:ext uri="{FF2B5EF4-FFF2-40B4-BE49-F238E27FC236}">
                <a16:creationId xmlns:a16="http://schemas.microsoft.com/office/drawing/2014/main" id="{34D7FE40-B6C3-61D9-EDD3-6C449875F200}"/>
              </a:ext>
            </a:extLst>
          </p:cNvPr>
          <p:cNvGraphicFramePr>
            <a:graphicFrameLocks noGrp="1"/>
          </p:cNvGraphicFramePr>
          <p:nvPr>
            <p:extLst>
              <p:ext uri="{D42A27DB-BD31-4B8C-83A1-F6EECF244321}">
                <p14:modId xmlns:p14="http://schemas.microsoft.com/office/powerpoint/2010/main" val="2880366967"/>
              </p:ext>
            </p:extLst>
          </p:nvPr>
        </p:nvGraphicFramePr>
        <p:xfrm>
          <a:off x="5612235" y="1690688"/>
          <a:ext cx="5937250" cy="2638679"/>
        </p:xfrm>
        <a:graphic>
          <a:graphicData uri="http://schemas.openxmlformats.org/drawingml/2006/table">
            <a:tbl>
              <a:tblPr firstRow="1" firstCol="1" bandRow="1">
                <a:tableStyleId>{5C22544A-7EE6-4342-B048-85BDC9FD1C3A}</a:tableStyleId>
              </a:tblPr>
              <a:tblGrid>
                <a:gridCol w="1483995">
                  <a:extLst>
                    <a:ext uri="{9D8B030D-6E8A-4147-A177-3AD203B41FA5}">
                      <a16:colId xmlns:a16="http://schemas.microsoft.com/office/drawing/2014/main" val="4267696510"/>
                    </a:ext>
                  </a:extLst>
                </a:gridCol>
                <a:gridCol w="1483995">
                  <a:extLst>
                    <a:ext uri="{9D8B030D-6E8A-4147-A177-3AD203B41FA5}">
                      <a16:colId xmlns:a16="http://schemas.microsoft.com/office/drawing/2014/main" val="3146953236"/>
                    </a:ext>
                  </a:extLst>
                </a:gridCol>
                <a:gridCol w="1484630">
                  <a:extLst>
                    <a:ext uri="{9D8B030D-6E8A-4147-A177-3AD203B41FA5}">
                      <a16:colId xmlns:a16="http://schemas.microsoft.com/office/drawing/2014/main" val="2367377094"/>
                    </a:ext>
                  </a:extLst>
                </a:gridCol>
                <a:gridCol w="1484630">
                  <a:extLst>
                    <a:ext uri="{9D8B030D-6E8A-4147-A177-3AD203B41FA5}">
                      <a16:colId xmlns:a16="http://schemas.microsoft.com/office/drawing/2014/main" val="3906705405"/>
                    </a:ext>
                  </a:extLst>
                </a:gridCol>
              </a:tblGrid>
              <a:tr h="0">
                <a:tc>
                  <a:txBody>
                    <a:bodyPr/>
                    <a:lstStyle/>
                    <a:p>
                      <a:pPr marL="0" marR="0">
                        <a:lnSpc>
                          <a:spcPct val="115000"/>
                        </a:lnSpc>
                        <a:spcAft>
                          <a:spcPts val="800"/>
                        </a:spcAft>
                        <a:buNone/>
                      </a:pPr>
                      <a:r>
                        <a:rPr lang="sr-Latn-RS" sz="1400" kern="100">
                          <a:effectLst/>
                        </a:rPr>
                        <a:t>Funkcija</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sr-Latn-RS" sz="1400" kern="100" dirty="0">
                          <a:effectLst/>
                        </a:rPr>
                        <a:t>Unos</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sr-Latn-RS" sz="1400" kern="100">
                          <a:effectLst/>
                        </a:rPr>
                        <a:t>Maskirani rezultat</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sr-Latn-RS" sz="1400" kern="100">
                          <a:effectLst/>
                        </a:rPr>
                        <a:t>Najbolja primena</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080544155"/>
                  </a:ext>
                </a:extLst>
              </a:tr>
              <a:tr h="0">
                <a:tc>
                  <a:txBody>
                    <a:bodyPr/>
                    <a:lstStyle/>
                    <a:p>
                      <a:pPr marL="0" marR="0">
                        <a:lnSpc>
                          <a:spcPct val="115000"/>
                        </a:lnSpc>
                        <a:spcAft>
                          <a:spcPts val="800"/>
                        </a:spcAft>
                        <a:buNone/>
                      </a:pPr>
                      <a:r>
                        <a:rPr lang="sr-Latn-RS" sz="1400" kern="100">
                          <a:effectLst/>
                        </a:rPr>
                        <a:t>FPE (AES-FFX)</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sr-Latn-RS" sz="1400" kern="100">
                          <a:effectLst/>
                        </a:rPr>
                        <a:t>4111 1111 1111 1111</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sr-Latn-RS" sz="1400" kern="100">
                          <a:effectLst/>
                        </a:rPr>
                        <a:t>4129 6034 5821 4410</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sr-Latn-RS" sz="1400" kern="100">
                          <a:effectLst/>
                        </a:rPr>
                        <a:t>Simulacije sa kreditnim karticama</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371384484"/>
                  </a:ext>
                </a:extLst>
              </a:tr>
              <a:tr h="0">
                <a:tc>
                  <a:txBody>
                    <a:bodyPr/>
                    <a:lstStyle/>
                    <a:p>
                      <a:pPr marL="0" marR="0">
                        <a:lnSpc>
                          <a:spcPct val="115000"/>
                        </a:lnSpc>
                        <a:spcAft>
                          <a:spcPts val="800"/>
                        </a:spcAft>
                        <a:buNone/>
                      </a:pPr>
                      <a:r>
                        <a:rPr lang="sr-Latn-RS" sz="1400" kern="100">
                          <a:effectLst/>
                        </a:rPr>
                        <a:t>Substring Redact</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sr-Latn-RS" sz="1400" u="sng" kern="100">
                          <a:effectLst/>
                          <a:hlinkClick r:id="rId2"/>
                        </a:rPr>
                        <a:t>alice@example.com</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sr-Latn-RS" sz="1400" u="sng" kern="100">
                          <a:effectLst/>
                          <a:hlinkClick r:id="rId3"/>
                        </a:rPr>
                        <a:t>al***@***.com</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sr-Latn-RS" sz="1400" kern="100">
                          <a:effectLst/>
                        </a:rPr>
                        <a:t>imejl i korisnička imena</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59203400"/>
                  </a:ext>
                </a:extLst>
              </a:tr>
              <a:tr h="0">
                <a:tc>
                  <a:txBody>
                    <a:bodyPr/>
                    <a:lstStyle/>
                    <a:p>
                      <a:pPr marL="0" marR="0">
                        <a:lnSpc>
                          <a:spcPct val="115000"/>
                        </a:lnSpc>
                        <a:spcAft>
                          <a:spcPts val="800"/>
                        </a:spcAft>
                        <a:buNone/>
                      </a:pPr>
                      <a:r>
                        <a:rPr lang="sr-Latn-RS" sz="1400" kern="100">
                          <a:effectLst/>
                        </a:rPr>
                        <a:t>Promena datuma </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sr-Latn-RS" sz="1400" kern="100">
                          <a:effectLst/>
                        </a:rPr>
                        <a:t>1990-05-09</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sr-Latn-RS" sz="1400" kern="100">
                          <a:effectLst/>
                        </a:rPr>
                        <a:t>1990-12-17</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sr-Latn-RS" sz="1400" kern="100">
                          <a:effectLst/>
                        </a:rPr>
                        <a:t>Datumi rođenja</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677692658"/>
                  </a:ext>
                </a:extLst>
              </a:tr>
              <a:tr h="0">
                <a:tc>
                  <a:txBody>
                    <a:bodyPr/>
                    <a:lstStyle/>
                    <a:p>
                      <a:pPr marL="0" marR="0">
                        <a:lnSpc>
                          <a:spcPct val="115000"/>
                        </a:lnSpc>
                        <a:spcAft>
                          <a:spcPts val="800"/>
                        </a:spcAft>
                        <a:buNone/>
                      </a:pPr>
                      <a:r>
                        <a:rPr lang="sr-Latn-RS" sz="1400" kern="100">
                          <a:effectLst/>
                        </a:rPr>
                        <a:t>Dictionary swap</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sr-Latn-RS" sz="1400" kern="100">
                          <a:effectLst/>
                        </a:rPr>
                        <a:t>Čikago</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sr-Latn-RS" sz="1400" kern="100">
                          <a:effectLst/>
                        </a:rPr>
                        <a:t>Frankfurt</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sr-Latn-RS" sz="1400" kern="100" dirty="0">
                          <a:effectLst/>
                        </a:rPr>
                        <a:t>Polja vezana za gradove i države</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587049002"/>
                  </a:ext>
                </a:extLst>
              </a:tr>
            </a:tbl>
          </a:graphicData>
        </a:graphic>
      </p:graphicFrame>
    </p:spTree>
    <p:extLst>
      <p:ext uri="{BB962C8B-B14F-4D97-AF65-F5344CB8AC3E}">
        <p14:creationId xmlns:p14="http://schemas.microsoft.com/office/powerpoint/2010/main" val="6896382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267344-E1A5-AD50-D548-90732C483A2F}"/>
              </a:ext>
            </a:extLst>
          </p:cNvPr>
          <p:cNvSpPr>
            <a:spLocks noGrp="1"/>
          </p:cNvSpPr>
          <p:nvPr>
            <p:ph type="title"/>
          </p:nvPr>
        </p:nvSpPr>
        <p:spPr/>
        <p:txBody>
          <a:bodyPr/>
          <a:lstStyle/>
          <a:p>
            <a:r>
              <a:rPr lang="sr-Latn-RS" dirty="0"/>
              <a:t>Dinamičko maskiranje podataka</a:t>
            </a:r>
            <a:endParaRPr lang="en-US" dirty="0"/>
          </a:p>
        </p:txBody>
      </p:sp>
      <p:sp>
        <p:nvSpPr>
          <p:cNvPr id="3" name="Content Placeholder 2">
            <a:extLst>
              <a:ext uri="{FF2B5EF4-FFF2-40B4-BE49-F238E27FC236}">
                <a16:creationId xmlns:a16="http://schemas.microsoft.com/office/drawing/2014/main" id="{6C138B50-575F-CD6C-34F1-3BBA23C1184D}"/>
              </a:ext>
            </a:extLst>
          </p:cNvPr>
          <p:cNvSpPr>
            <a:spLocks noGrp="1"/>
          </p:cNvSpPr>
          <p:nvPr>
            <p:ph idx="1"/>
          </p:nvPr>
        </p:nvSpPr>
        <p:spPr>
          <a:xfrm>
            <a:off x="838200" y="1825625"/>
            <a:ext cx="5998828" cy="4351338"/>
          </a:xfrm>
        </p:spPr>
        <p:txBody>
          <a:bodyPr/>
          <a:lstStyle/>
          <a:p>
            <a:r>
              <a:rPr lang="sr-Latn-RS" dirty="0"/>
              <a:t>Dinamičko maskiranje podataka, poznato i kao DDM (Dynamic Data Masking) maskira podatke u realnom vremenu, ali za razliku od statičkog načina ovde se samo pojedini osetljivi podaci maskiraju, i to zavisno od korisnika koji im pristupa.</a:t>
            </a:r>
            <a:endParaRPr lang="en-US" dirty="0"/>
          </a:p>
        </p:txBody>
      </p:sp>
      <p:pic>
        <p:nvPicPr>
          <p:cNvPr id="4" name="Picture 3">
            <a:extLst>
              <a:ext uri="{FF2B5EF4-FFF2-40B4-BE49-F238E27FC236}">
                <a16:creationId xmlns:a16="http://schemas.microsoft.com/office/drawing/2014/main" id="{CB522553-A165-3E9F-C2AD-8436AE22CB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29305" y="2123504"/>
            <a:ext cx="4732789" cy="2105990"/>
          </a:xfrm>
          <a:prstGeom prst="rect">
            <a:avLst/>
          </a:prstGeom>
        </p:spPr>
      </p:pic>
    </p:spTree>
    <p:extLst>
      <p:ext uri="{BB962C8B-B14F-4D97-AF65-F5344CB8AC3E}">
        <p14:creationId xmlns:p14="http://schemas.microsoft.com/office/powerpoint/2010/main" val="27068339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79A074-08BC-70C3-74E2-78D9CBCECEEE}"/>
              </a:ext>
            </a:extLst>
          </p:cNvPr>
          <p:cNvSpPr>
            <a:spLocks noGrp="1"/>
          </p:cNvSpPr>
          <p:nvPr>
            <p:ph type="title"/>
          </p:nvPr>
        </p:nvSpPr>
        <p:spPr/>
        <p:txBody>
          <a:bodyPr/>
          <a:lstStyle/>
          <a:p>
            <a:r>
              <a:rPr lang="en-US" dirty="0" err="1"/>
              <a:t>Tehnike</a:t>
            </a:r>
            <a:r>
              <a:rPr lang="en-US" dirty="0"/>
              <a:t> </a:t>
            </a:r>
            <a:r>
              <a:rPr lang="en-US" dirty="0" err="1"/>
              <a:t>maskiranja</a:t>
            </a:r>
            <a:r>
              <a:rPr lang="en-US" dirty="0"/>
              <a:t> </a:t>
            </a:r>
            <a:r>
              <a:rPr lang="en-US" dirty="0" err="1"/>
              <a:t>podataka</a:t>
            </a:r>
            <a:endParaRPr lang="en-US" dirty="0"/>
          </a:p>
        </p:txBody>
      </p:sp>
      <p:sp>
        <p:nvSpPr>
          <p:cNvPr id="3" name="Content Placeholder 2">
            <a:extLst>
              <a:ext uri="{FF2B5EF4-FFF2-40B4-BE49-F238E27FC236}">
                <a16:creationId xmlns:a16="http://schemas.microsoft.com/office/drawing/2014/main" id="{493828DF-5B8A-E2B4-F42A-0A9D11B45599}"/>
              </a:ext>
            </a:extLst>
          </p:cNvPr>
          <p:cNvSpPr>
            <a:spLocks noGrp="1"/>
          </p:cNvSpPr>
          <p:nvPr>
            <p:ph idx="1"/>
          </p:nvPr>
        </p:nvSpPr>
        <p:spPr/>
        <p:txBody>
          <a:bodyPr>
            <a:normAutofit fontScale="92500" lnSpcReduction="10000"/>
          </a:bodyPr>
          <a:lstStyle/>
          <a:p>
            <a:pPr marL="0" indent="0">
              <a:buNone/>
            </a:pPr>
            <a:r>
              <a:rPr lang="sr-Latn-RS" dirty="0"/>
              <a:t>Prethodno navedeni tipovi maskiranja koriste različite tehnike maskiranja podataka. Neki od tih tehnika su i:</a:t>
            </a:r>
            <a:endParaRPr lang="en-US" dirty="0"/>
          </a:p>
          <a:p>
            <a:pPr lvl="0"/>
            <a:r>
              <a:rPr lang="sr-Latn-RS" dirty="0"/>
              <a:t>Pseudonomizacija podataka</a:t>
            </a:r>
            <a:endParaRPr lang="en-US" dirty="0"/>
          </a:p>
          <a:p>
            <a:pPr lvl="0"/>
            <a:r>
              <a:rPr lang="sr-Latn-RS" dirty="0"/>
              <a:t>Anonimizacija podataka</a:t>
            </a:r>
            <a:endParaRPr lang="en-US" dirty="0"/>
          </a:p>
          <a:p>
            <a:pPr lvl="0"/>
            <a:r>
              <a:rPr lang="sr-Latn-RS" dirty="0"/>
              <a:t>Lookup zamena</a:t>
            </a:r>
            <a:endParaRPr lang="en-US" dirty="0"/>
          </a:p>
          <a:p>
            <a:pPr lvl="0"/>
            <a:r>
              <a:rPr lang="sr-Latn-RS" dirty="0"/>
              <a:t>Enkripcija</a:t>
            </a:r>
            <a:endParaRPr lang="en-US" dirty="0"/>
          </a:p>
          <a:p>
            <a:pPr lvl="0"/>
            <a:r>
              <a:rPr lang="sr-Latn-RS" dirty="0"/>
              <a:t>Redakcija (cenzura)</a:t>
            </a:r>
            <a:endParaRPr lang="en-US" dirty="0"/>
          </a:p>
          <a:p>
            <a:pPr lvl="0"/>
            <a:r>
              <a:rPr lang="sr-Latn-RS" dirty="0"/>
              <a:t>Prosečnost</a:t>
            </a:r>
            <a:endParaRPr lang="en-US" dirty="0"/>
          </a:p>
          <a:p>
            <a:pPr lvl="0"/>
            <a:r>
              <a:rPr lang="sr-Latn-RS" dirty="0"/>
              <a:t>Mešanje</a:t>
            </a:r>
            <a:endParaRPr lang="en-US" dirty="0"/>
          </a:p>
          <a:p>
            <a:pPr lvl="0"/>
            <a:r>
              <a:rPr lang="sr-Latn-RS" dirty="0"/>
              <a:t>Promena datuma</a:t>
            </a:r>
            <a:endParaRPr lang="en-US" dirty="0"/>
          </a:p>
          <a:p>
            <a:endParaRPr lang="en-US" dirty="0"/>
          </a:p>
        </p:txBody>
      </p:sp>
    </p:spTree>
    <p:extLst>
      <p:ext uri="{BB962C8B-B14F-4D97-AF65-F5344CB8AC3E}">
        <p14:creationId xmlns:p14="http://schemas.microsoft.com/office/powerpoint/2010/main" val="5912699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3A8667-78D6-2869-1B0D-23EB8B6A4A23}"/>
              </a:ext>
            </a:extLst>
          </p:cNvPr>
          <p:cNvSpPr>
            <a:spLocks noGrp="1"/>
          </p:cNvSpPr>
          <p:nvPr>
            <p:ph type="title"/>
          </p:nvPr>
        </p:nvSpPr>
        <p:spPr/>
        <p:txBody>
          <a:bodyPr/>
          <a:lstStyle/>
          <a:p>
            <a:r>
              <a:rPr lang="sr-Latn-RS" b="1" dirty="0"/>
              <a:t>Pseudonomizacija</a:t>
            </a:r>
            <a:endParaRPr lang="en-US" dirty="0"/>
          </a:p>
        </p:txBody>
      </p:sp>
      <p:sp>
        <p:nvSpPr>
          <p:cNvPr id="3" name="Content Placeholder 2">
            <a:extLst>
              <a:ext uri="{FF2B5EF4-FFF2-40B4-BE49-F238E27FC236}">
                <a16:creationId xmlns:a16="http://schemas.microsoft.com/office/drawing/2014/main" id="{CD9DEAE8-0D7F-48BC-3E15-AD554AA9BF6E}"/>
              </a:ext>
            </a:extLst>
          </p:cNvPr>
          <p:cNvSpPr>
            <a:spLocks noGrp="1"/>
          </p:cNvSpPr>
          <p:nvPr>
            <p:ph idx="1"/>
          </p:nvPr>
        </p:nvSpPr>
        <p:spPr/>
        <p:txBody>
          <a:bodyPr>
            <a:normAutofit fontScale="92500" lnSpcReduction="10000"/>
          </a:bodyPr>
          <a:lstStyle/>
          <a:p>
            <a:r>
              <a:rPr lang="sr-Latn-RS" dirty="0"/>
              <a:t>Tehnika koja maskira osetljive podatke tako što ih menja fikcionalnim podacima. Na taj način informacije ne bi mogle da se direktno povežu sa originalima bez nekih dodatnih podataka. Glavna namena je da se očuva referencijalni integritet i statistička preciznost, a da istovremeno operacije sa analizom podataka rade neometano.</a:t>
            </a:r>
          </a:p>
          <a:p>
            <a:r>
              <a:rPr lang="sr-Latn-RS" dirty="0"/>
              <a:t>Pseudonomizacija se sastoji iz sledećih koraka:</a:t>
            </a:r>
            <a:endParaRPr lang="en-US" dirty="0"/>
          </a:p>
          <a:p>
            <a:pPr lvl="1"/>
            <a:r>
              <a:rPr lang="sr-Latn-RS" dirty="0"/>
              <a:t>Identifikacija polja koja sadrže lične identifikujuće podatke (PII).</a:t>
            </a:r>
            <a:endParaRPr lang="en-US" dirty="0"/>
          </a:p>
          <a:p>
            <a:pPr lvl="1"/>
            <a:r>
              <a:rPr lang="sr-Latn-RS" dirty="0"/>
              <a:t>Algoritam za pseudonomizaciju menja te PII sa fiktivnim ali realističnim podacima.</a:t>
            </a:r>
            <a:endParaRPr lang="en-US" dirty="0"/>
          </a:p>
          <a:p>
            <a:pPr lvl="1"/>
            <a:r>
              <a:rPr lang="sr-Latn-RS" dirty="0"/>
              <a:t>Čuvanje mapiranja između originalnih podataka i pseudonima na nekom sigurnom mestu.</a:t>
            </a:r>
            <a:endParaRPr lang="en-US" dirty="0"/>
          </a:p>
          <a:p>
            <a:pPr lvl="1"/>
            <a:r>
              <a:rPr lang="sr-Latn-RS" dirty="0"/>
              <a:t>Korišćenje pseudonomizovanih podataka umesto originalnih za operacije.</a:t>
            </a:r>
            <a:endParaRPr lang="en-US" dirty="0"/>
          </a:p>
          <a:p>
            <a:endParaRPr lang="en-US" dirty="0"/>
          </a:p>
        </p:txBody>
      </p:sp>
    </p:spTree>
    <p:extLst>
      <p:ext uri="{BB962C8B-B14F-4D97-AF65-F5344CB8AC3E}">
        <p14:creationId xmlns:p14="http://schemas.microsoft.com/office/powerpoint/2010/main" val="13513658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8D4655-C9D0-4236-61E5-D30DF454661E}"/>
              </a:ext>
            </a:extLst>
          </p:cNvPr>
          <p:cNvSpPr>
            <a:spLocks noGrp="1"/>
          </p:cNvSpPr>
          <p:nvPr>
            <p:ph type="title"/>
          </p:nvPr>
        </p:nvSpPr>
        <p:spPr/>
        <p:txBody>
          <a:bodyPr/>
          <a:lstStyle/>
          <a:p>
            <a:r>
              <a:rPr lang="sr-Latn-RS" dirty="0"/>
              <a:t>Pseudonomizacija - primer</a:t>
            </a:r>
            <a:endParaRPr lang="en-US" dirty="0"/>
          </a:p>
        </p:txBody>
      </p:sp>
      <p:graphicFrame>
        <p:nvGraphicFramePr>
          <p:cNvPr id="4" name="Table 3">
            <a:extLst>
              <a:ext uri="{FF2B5EF4-FFF2-40B4-BE49-F238E27FC236}">
                <a16:creationId xmlns:a16="http://schemas.microsoft.com/office/drawing/2014/main" id="{B59B4EE4-0BF1-4723-CEE0-7905E06957AC}"/>
              </a:ext>
            </a:extLst>
          </p:cNvPr>
          <p:cNvGraphicFramePr>
            <a:graphicFrameLocks noGrp="1"/>
          </p:cNvGraphicFramePr>
          <p:nvPr>
            <p:extLst>
              <p:ext uri="{D42A27DB-BD31-4B8C-83A1-F6EECF244321}">
                <p14:modId xmlns:p14="http://schemas.microsoft.com/office/powerpoint/2010/main" val="1640400199"/>
              </p:ext>
            </p:extLst>
          </p:nvPr>
        </p:nvGraphicFramePr>
        <p:xfrm>
          <a:off x="838200" y="1690688"/>
          <a:ext cx="5834864" cy="1456432"/>
        </p:xfrm>
        <a:graphic>
          <a:graphicData uri="http://schemas.openxmlformats.org/drawingml/2006/table">
            <a:tbl>
              <a:tblPr firstRow="1" firstCol="1" bandRow="1">
                <a:tableStyleId>{5C22544A-7EE6-4342-B048-85BDC9FD1C3A}</a:tableStyleId>
              </a:tblPr>
              <a:tblGrid>
                <a:gridCol w="1458404">
                  <a:extLst>
                    <a:ext uri="{9D8B030D-6E8A-4147-A177-3AD203B41FA5}">
                      <a16:colId xmlns:a16="http://schemas.microsoft.com/office/drawing/2014/main" val="2699190149"/>
                    </a:ext>
                  </a:extLst>
                </a:gridCol>
                <a:gridCol w="1458404">
                  <a:extLst>
                    <a:ext uri="{9D8B030D-6E8A-4147-A177-3AD203B41FA5}">
                      <a16:colId xmlns:a16="http://schemas.microsoft.com/office/drawing/2014/main" val="2362569554"/>
                    </a:ext>
                  </a:extLst>
                </a:gridCol>
                <a:gridCol w="1459028">
                  <a:extLst>
                    <a:ext uri="{9D8B030D-6E8A-4147-A177-3AD203B41FA5}">
                      <a16:colId xmlns:a16="http://schemas.microsoft.com/office/drawing/2014/main" val="2262385852"/>
                    </a:ext>
                  </a:extLst>
                </a:gridCol>
                <a:gridCol w="1459028">
                  <a:extLst>
                    <a:ext uri="{9D8B030D-6E8A-4147-A177-3AD203B41FA5}">
                      <a16:colId xmlns:a16="http://schemas.microsoft.com/office/drawing/2014/main" val="1093071332"/>
                    </a:ext>
                  </a:extLst>
                </a:gridCol>
              </a:tblGrid>
              <a:tr h="511171">
                <a:tc>
                  <a:txBody>
                    <a:bodyPr/>
                    <a:lstStyle/>
                    <a:p>
                      <a:pPr marL="0" marR="0">
                        <a:lnSpc>
                          <a:spcPct val="115000"/>
                        </a:lnSpc>
                        <a:spcAft>
                          <a:spcPts val="800"/>
                        </a:spcAft>
                        <a:buNone/>
                      </a:pPr>
                      <a:r>
                        <a:rPr lang="sr-Latn-RS" sz="1400" kern="100" dirty="0">
                          <a:effectLst/>
                        </a:rPr>
                        <a:t>Id</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sr-Latn-RS" sz="1400" kern="100">
                          <a:effectLst/>
                        </a:rPr>
                        <a:t>Name</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sr-Latn-RS" sz="1400" kern="100">
                          <a:effectLst/>
                        </a:rPr>
                        <a:t>Address</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sr-Latn-RS" sz="1400" kern="100">
                          <a:effectLst/>
                        </a:rPr>
                        <a:t>Diagnosis</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336065574"/>
                  </a:ext>
                </a:extLst>
              </a:tr>
              <a:tr h="201000">
                <a:tc>
                  <a:txBody>
                    <a:bodyPr/>
                    <a:lstStyle/>
                    <a:p>
                      <a:pPr marL="0" marR="0">
                        <a:lnSpc>
                          <a:spcPct val="115000"/>
                        </a:lnSpc>
                        <a:spcAft>
                          <a:spcPts val="800"/>
                        </a:spcAft>
                        <a:buNone/>
                      </a:pPr>
                      <a:r>
                        <a:rPr lang="sr-Latn-RS" sz="1400" kern="100">
                          <a:effectLst/>
                        </a:rPr>
                        <a:t>1</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sr-Latn-RS" sz="1400" kern="100">
                          <a:effectLst/>
                        </a:rPr>
                        <a:t>Pera Perić</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sr-Latn-RS" sz="1400" kern="100">
                          <a:effectLst/>
                        </a:rPr>
                        <a:t>Glavna 1</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sr-Latn-RS" sz="1400" kern="100">
                          <a:effectLst/>
                        </a:rPr>
                        <a:t>Hipertenzija</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525823614"/>
                  </a:ext>
                </a:extLst>
              </a:tr>
              <a:tr h="412394">
                <a:tc>
                  <a:txBody>
                    <a:bodyPr/>
                    <a:lstStyle/>
                    <a:p>
                      <a:pPr marL="0" marR="0">
                        <a:lnSpc>
                          <a:spcPct val="115000"/>
                        </a:lnSpc>
                        <a:spcAft>
                          <a:spcPts val="800"/>
                        </a:spcAft>
                        <a:buNone/>
                      </a:pPr>
                      <a:r>
                        <a:rPr lang="sr-Latn-RS" sz="1400" kern="100">
                          <a:effectLst/>
                        </a:rPr>
                        <a:t>2</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sr-Latn-RS" sz="1400" kern="100">
                          <a:effectLst/>
                        </a:rPr>
                        <a:t>Ivana Ilić</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sr-Latn-RS" sz="1400" kern="100">
                          <a:effectLst/>
                        </a:rPr>
                        <a:t>Labuda Đukića 12</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sr-Latn-RS" sz="1400" kern="100">
                          <a:effectLst/>
                        </a:rPr>
                        <a:t>Dijabetes</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75146482"/>
                  </a:ext>
                </a:extLst>
              </a:tr>
              <a:tr h="201000">
                <a:tc>
                  <a:txBody>
                    <a:bodyPr/>
                    <a:lstStyle/>
                    <a:p>
                      <a:pPr marL="0" marR="0">
                        <a:lnSpc>
                          <a:spcPct val="115000"/>
                        </a:lnSpc>
                        <a:spcAft>
                          <a:spcPts val="800"/>
                        </a:spcAft>
                        <a:buNone/>
                      </a:pPr>
                      <a:r>
                        <a:rPr lang="sr-Latn-RS" sz="1400" kern="100">
                          <a:effectLst/>
                        </a:rPr>
                        <a:t>3</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sr-Latn-RS" sz="1400" kern="100">
                          <a:effectLst/>
                        </a:rPr>
                        <a:t>Žika Žikić</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sr-Latn-RS" sz="1400" kern="100">
                          <a:effectLst/>
                        </a:rPr>
                        <a:t>Grobljanska</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sr-Latn-RS" sz="1400" kern="100" dirty="0">
                          <a:effectLst/>
                        </a:rPr>
                        <a:t>Astma</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75355269"/>
                  </a:ext>
                </a:extLst>
              </a:tr>
            </a:tbl>
          </a:graphicData>
        </a:graphic>
      </p:graphicFrame>
      <p:sp>
        <p:nvSpPr>
          <p:cNvPr id="5" name="TextBox 4">
            <a:extLst>
              <a:ext uri="{FF2B5EF4-FFF2-40B4-BE49-F238E27FC236}">
                <a16:creationId xmlns:a16="http://schemas.microsoft.com/office/drawing/2014/main" id="{F0630955-6CE6-D45D-D0C2-993B52BBF646}"/>
              </a:ext>
            </a:extLst>
          </p:cNvPr>
          <p:cNvSpPr txBox="1"/>
          <p:nvPr/>
        </p:nvSpPr>
        <p:spPr>
          <a:xfrm>
            <a:off x="709408" y="3259429"/>
            <a:ext cx="4360121" cy="1477328"/>
          </a:xfrm>
          <a:prstGeom prst="rect">
            <a:avLst/>
          </a:prstGeom>
          <a:noFill/>
        </p:spPr>
        <p:txBody>
          <a:bodyPr wrap="square" rtlCol="0">
            <a:spAutoFit/>
          </a:bodyPr>
          <a:lstStyle/>
          <a:p>
            <a:r>
              <a:rPr lang="sr-Latn-RS" dirty="0"/>
              <a:t>Ovde  su PII, odnosno lični identifikujući podaci ime i adresa. Dijagnoza nije, jer se bez nekog lekarskog pregleda bolest poput astme ne može direktno povezati i identifikovati sa pojedincem.</a:t>
            </a:r>
            <a:endParaRPr lang="en-US" dirty="0"/>
          </a:p>
        </p:txBody>
      </p:sp>
      <p:graphicFrame>
        <p:nvGraphicFramePr>
          <p:cNvPr id="6" name="Table 5">
            <a:extLst>
              <a:ext uri="{FF2B5EF4-FFF2-40B4-BE49-F238E27FC236}">
                <a16:creationId xmlns:a16="http://schemas.microsoft.com/office/drawing/2014/main" id="{6299F618-030C-B5BD-0FC2-4FD7439F7B6C}"/>
              </a:ext>
            </a:extLst>
          </p:cNvPr>
          <p:cNvGraphicFramePr>
            <a:graphicFrameLocks noGrp="1"/>
          </p:cNvGraphicFramePr>
          <p:nvPr>
            <p:extLst>
              <p:ext uri="{D42A27DB-BD31-4B8C-83A1-F6EECF244321}">
                <p14:modId xmlns:p14="http://schemas.microsoft.com/office/powerpoint/2010/main" val="3241682228"/>
              </p:ext>
            </p:extLst>
          </p:nvPr>
        </p:nvGraphicFramePr>
        <p:xfrm>
          <a:off x="787007" y="4849066"/>
          <a:ext cx="5937250" cy="933196"/>
        </p:xfrm>
        <a:graphic>
          <a:graphicData uri="http://schemas.openxmlformats.org/drawingml/2006/table">
            <a:tbl>
              <a:tblPr firstRow="1" firstCol="1" bandRow="1">
                <a:tableStyleId>{5C22544A-7EE6-4342-B048-85BDC9FD1C3A}</a:tableStyleId>
              </a:tblPr>
              <a:tblGrid>
                <a:gridCol w="1483995">
                  <a:extLst>
                    <a:ext uri="{9D8B030D-6E8A-4147-A177-3AD203B41FA5}">
                      <a16:colId xmlns:a16="http://schemas.microsoft.com/office/drawing/2014/main" val="1406417481"/>
                    </a:ext>
                  </a:extLst>
                </a:gridCol>
                <a:gridCol w="1483995">
                  <a:extLst>
                    <a:ext uri="{9D8B030D-6E8A-4147-A177-3AD203B41FA5}">
                      <a16:colId xmlns:a16="http://schemas.microsoft.com/office/drawing/2014/main" val="4189326528"/>
                    </a:ext>
                  </a:extLst>
                </a:gridCol>
                <a:gridCol w="1484630">
                  <a:extLst>
                    <a:ext uri="{9D8B030D-6E8A-4147-A177-3AD203B41FA5}">
                      <a16:colId xmlns:a16="http://schemas.microsoft.com/office/drawing/2014/main" val="2122989306"/>
                    </a:ext>
                  </a:extLst>
                </a:gridCol>
                <a:gridCol w="1484630">
                  <a:extLst>
                    <a:ext uri="{9D8B030D-6E8A-4147-A177-3AD203B41FA5}">
                      <a16:colId xmlns:a16="http://schemas.microsoft.com/office/drawing/2014/main" val="3130588805"/>
                    </a:ext>
                  </a:extLst>
                </a:gridCol>
              </a:tblGrid>
              <a:tr h="0">
                <a:tc>
                  <a:txBody>
                    <a:bodyPr/>
                    <a:lstStyle/>
                    <a:p>
                      <a:pPr marL="0" marR="0">
                        <a:lnSpc>
                          <a:spcPct val="115000"/>
                        </a:lnSpc>
                        <a:spcAft>
                          <a:spcPts val="800"/>
                        </a:spcAft>
                        <a:buNone/>
                      </a:pPr>
                      <a:r>
                        <a:rPr lang="sr-Latn-RS" sz="1400" kern="100">
                          <a:effectLst/>
                        </a:rPr>
                        <a:t>Id</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sr-Latn-RS" sz="1400" kern="100">
                          <a:effectLst/>
                        </a:rPr>
                        <a:t>Name</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sr-Latn-RS" sz="1400" kern="100">
                          <a:effectLst/>
                        </a:rPr>
                        <a:t>Address</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sr-Latn-RS" sz="1400" kern="100">
                          <a:effectLst/>
                        </a:rPr>
                        <a:t>Diagnosis</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84023908"/>
                  </a:ext>
                </a:extLst>
              </a:tr>
              <a:tr h="0">
                <a:tc>
                  <a:txBody>
                    <a:bodyPr/>
                    <a:lstStyle/>
                    <a:p>
                      <a:pPr marL="0" marR="0">
                        <a:lnSpc>
                          <a:spcPct val="115000"/>
                        </a:lnSpc>
                        <a:spcAft>
                          <a:spcPts val="800"/>
                        </a:spcAft>
                        <a:buNone/>
                      </a:pPr>
                      <a:r>
                        <a:rPr lang="sr-Latn-RS" sz="1400" kern="100">
                          <a:effectLst/>
                        </a:rPr>
                        <a:t>1</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sr-Latn-RS" sz="1400" kern="100">
                          <a:effectLst/>
                        </a:rPr>
                        <a:t>XH54K1</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sr-Latn-RS" sz="1400" kern="100">
                          <a:effectLst/>
                        </a:rPr>
                        <a:t>AD34Z9</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sr-Latn-RS" sz="1400" kern="100">
                          <a:effectLst/>
                        </a:rPr>
                        <a:t>Hipertenzija</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21704133"/>
                  </a:ext>
                </a:extLst>
              </a:tr>
              <a:tr h="0">
                <a:tc>
                  <a:txBody>
                    <a:bodyPr/>
                    <a:lstStyle/>
                    <a:p>
                      <a:pPr marL="0" marR="0">
                        <a:lnSpc>
                          <a:spcPct val="115000"/>
                        </a:lnSpc>
                        <a:spcAft>
                          <a:spcPts val="800"/>
                        </a:spcAft>
                        <a:buNone/>
                      </a:pPr>
                      <a:r>
                        <a:rPr lang="sr-Latn-RS" sz="1400" kern="100">
                          <a:effectLst/>
                        </a:rPr>
                        <a:t>2</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sr-Latn-RS" sz="1400" kern="100">
                          <a:effectLst/>
                        </a:rPr>
                        <a:t>RG78P2</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sr-Latn-RS" sz="1400" kern="100">
                          <a:effectLst/>
                        </a:rPr>
                        <a:t>FG16B7</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sr-Latn-RS" sz="1400" kern="100">
                          <a:effectLst/>
                        </a:rPr>
                        <a:t>Dijabetes</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43440499"/>
                  </a:ext>
                </a:extLst>
              </a:tr>
              <a:tr h="0">
                <a:tc>
                  <a:txBody>
                    <a:bodyPr/>
                    <a:lstStyle/>
                    <a:p>
                      <a:pPr marL="0" marR="0">
                        <a:lnSpc>
                          <a:spcPct val="115000"/>
                        </a:lnSpc>
                        <a:spcAft>
                          <a:spcPts val="800"/>
                        </a:spcAft>
                        <a:buNone/>
                      </a:pPr>
                      <a:r>
                        <a:rPr lang="sr-Latn-RS" sz="1400" kern="100">
                          <a:effectLst/>
                        </a:rPr>
                        <a:t>3</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sr-Latn-RS" sz="1400" kern="100">
                          <a:effectLst/>
                        </a:rPr>
                        <a:t>UI23N6</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sr-Latn-RS" sz="1400" kern="100">
                          <a:effectLst/>
                        </a:rPr>
                        <a:t>KO89V5</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sr-Latn-RS" sz="1400" kern="100" dirty="0">
                          <a:effectLst/>
                        </a:rPr>
                        <a:t>Astma</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086821267"/>
                  </a:ext>
                </a:extLst>
              </a:tr>
            </a:tbl>
          </a:graphicData>
        </a:graphic>
      </p:graphicFrame>
      <p:graphicFrame>
        <p:nvGraphicFramePr>
          <p:cNvPr id="7" name="Table 6">
            <a:extLst>
              <a:ext uri="{FF2B5EF4-FFF2-40B4-BE49-F238E27FC236}">
                <a16:creationId xmlns:a16="http://schemas.microsoft.com/office/drawing/2014/main" id="{F8F0B2DC-83C4-A76B-2237-E0B43094E507}"/>
              </a:ext>
            </a:extLst>
          </p:cNvPr>
          <p:cNvGraphicFramePr>
            <a:graphicFrameLocks noGrp="1"/>
          </p:cNvGraphicFramePr>
          <p:nvPr>
            <p:extLst>
              <p:ext uri="{D42A27DB-BD31-4B8C-83A1-F6EECF244321}">
                <p14:modId xmlns:p14="http://schemas.microsoft.com/office/powerpoint/2010/main" val="2921064078"/>
              </p:ext>
            </p:extLst>
          </p:nvPr>
        </p:nvGraphicFramePr>
        <p:xfrm>
          <a:off x="7306811" y="4162107"/>
          <a:ext cx="3888618" cy="1670718"/>
        </p:xfrm>
        <a:graphic>
          <a:graphicData uri="http://schemas.openxmlformats.org/drawingml/2006/table">
            <a:tbl>
              <a:tblPr firstRow="1" firstCol="1" bandRow="1">
                <a:tableStyleId>{5C22544A-7EE6-4342-B048-85BDC9FD1C3A}</a:tableStyleId>
              </a:tblPr>
              <a:tblGrid>
                <a:gridCol w="1944309">
                  <a:extLst>
                    <a:ext uri="{9D8B030D-6E8A-4147-A177-3AD203B41FA5}">
                      <a16:colId xmlns:a16="http://schemas.microsoft.com/office/drawing/2014/main" val="2174858573"/>
                    </a:ext>
                  </a:extLst>
                </a:gridCol>
                <a:gridCol w="1944309">
                  <a:extLst>
                    <a:ext uri="{9D8B030D-6E8A-4147-A177-3AD203B41FA5}">
                      <a16:colId xmlns:a16="http://schemas.microsoft.com/office/drawing/2014/main" val="2153138290"/>
                    </a:ext>
                  </a:extLst>
                </a:gridCol>
              </a:tblGrid>
              <a:tr h="238674">
                <a:tc>
                  <a:txBody>
                    <a:bodyPr/>
                    <a:lstStyle/>
                    <a:p>
                      <a:pPr marL="0" marR="0">
                        <a:lnSpc>
                          <a:spcPct val="115000"/>
                        </a:lnSpc>
                        <a:spcAft>
                          <a:spcPts val="800"/>
                        </a:spcAft>
                        <a:buNone/>
                      </a:pPr>
                      <a:r>
                        <a:rPr lang="sr-Latn-RS" sz="1400" kern="100">
                          <a:effectLst/>
                        </a:rPr>
                        <a:t>Pseudonim</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sr-Latn-RS" sz="1400" kern="100">
                          <a:effectLst/>
                        </a:rPr>
                        <a:t>Original</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227406781"/>
                  </a:ext>
                </a:extLst>
              </a:tr>
              <a:tr h="238674">
                <a:tc>
                  <a:txBody>
                    <a:bodyPr/>
                    <a:lstStyle/>
                    <a:p>
                      <a:pPr marL="0" marR="0">
                        <a:lnSpc>
                          <a:spcPct val="115000"/>
                        </a:lnSpc>
                        <a:spcAft>
                          <a:spcPts val="800"/>
                        </a:spcAft>
                        <a:buNone/>
                      </a:pPr>
                      <a:r>
                        <a:rPr lang="sr-Latn-RS" sz="1400" kern="100">
                          <a:effectLst/>
                        </a:rPr>
                        <a:t>XH54K1</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sr-Latn-RS" sz="1400" kern="100">
                          <a:effectLst/>
                        </a:rPr>
                        <a:t>Pera Perić</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2305929"/>
                  </a:ext>
                </a:extLst>
              </a:tr>
              <a:tr h="238674">
                <a:tc>
                  <a:txBody>
                    <a:bodyPr/>
                    <a:lstStyle/>
                    <a:p>
                      <a:pPr marL="0" marR="0">
                        <a:lnSpc>
                          <a:spcPct val="115000"/>
                        </a:lnSpc>
                        <a:spcAft>
                          <a:spcPts val="800"/>
                        </a:spcAft>
                        <a:buNone/>
                      </a:pPr>
                      <a:r>
                        <a:rPr lang="sr-Latn-RS" sz="1400" kern="100" dirty="0">
                          <a:effectLst/>
                        </a:rPr>
                        <a:t>RG78P2</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sr-Latn-RS" sz="1400" kern="100">
                          <a:effectLst/>
                        </a:rPr>
                        <a:t>Ivan Ilić</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37610360"/>
                  </a:ext>
                </a:extLst>
              </a:tr>
              <a:tr h="238674">
                <a:tc>
                  <a:txBody>
                    <a:bodyPr/>
                    <a:lstStyle/>
                    <a:p>
                      <a:pPr marL="0" marR="0">
                        <a:lnSpc>
                          <a:spcPct val="115000"/>
                        </a:lnSpc>
                        <a:spcAft>
                          <a:spcPts val="800"/>
                        </a:spcAft>
                        <a:buNone/>
                      </a:pPr>
                      <a:r>
                        <a:rPr lang="sr-Latn-RS" sz="1400" kern="100">
                          <a:effectLst/>
                        </a:rPr>
                        <a:t>UI23N6</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sr-Latn-RS" sz="1400" kern="100">
                          <a:effectLst/>
                        </a:rPr>
                        <a:t>Žika Žikić</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785827798"/>
                  </a:ext>
                </a:extLst>
              </a:tr>
              <a:tr h="238674">
                <a:tc>
                  <a:txBody>
                    <a:bodyPr/>
                    <a:lstStyle/>
                    <a:p>
                      <a:pPr marL="0" marR="0">
                        <a:lnSpc>
                          <a:spcPct val="115000"/>
                        </a:lnSpc>
                        <a:spcAft>
                          <a:spcPts val="800"/>
                        </a:spcAft>
                        <a:buNone/>
                      </a:pPr>
                      <a:r>
                        <a:rPr lang="sr-Latn-RS" sz="1400" kern="100">
                          <a:effectLst/>
                        </a:rPr>
                        <a:t>AD34Z9</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sr-Latn-RS" sz="1400" kern="100">
                          <a:effectLst/>
                        </a:rPr>
                        <a:t>Glavna 1</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214579525"/>
                  </a:ext>
                </a:extLst>
              </a:tr>
              <a:tr h="238674">
                <a:tc>
                  <a:txBody>
                    <a:bodyPr/>
                    <a:lstStyle/>
                    <a:p>
                      <a:pPr marL="0" marR="0">
                        <a:lnSpc>
                          <a:spcPct val="115000"/>
                        </a:lnSpc>
                        <a:spcAft>
                          <a:spcPts val="800"/>
                        </a:spcAft>
                        <a:buNone/>
                      </a:pPr>
                      <a:r>
                        <a:rPr lang="sr-Latn-RS" sz="1400" kern="100">
                          <a:effectLst/>
                        </a:rPr>
                        <a:t>FG16B7</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sr-Latn-RS" sz="1400" kern="100">
                          <a:effectLst/>
                        </a:rPr>
                        <a:t>Labuda Đukića 1</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323566683"/>
                  </a:ext>
                </a:extLst>
              </a:tr>
              <a:tr h="238674">
                <a:tc>
                  <a:txBody>
                    <a:bodyPr/>
                    <a:lstStyle/>
                    <a:p>
                      <a:pPr marL="0" marR="0">
                        <a:lnSpc>
                          <a:spcPct val="115000"/>
                        </a:lnSpc>
                        <a:spcAft>
                          <a:spcPts val="800"/>
                        </a:spcAft>
                        <a:buNone/>
                      </a:pPr>
                      <a:r>
                        <a:rPr lang="sr-Latn-RS" sz="1400" kern="100">
                          <a:effectLst/>
                        </a:rPr>
                        <a:t>KO89V5</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sr-Latn-RS" sz="1400" kern="100" dirty="0">
                          <a:effectLst/>
                        </a:rPr>
                        <a:t>Grobljanska</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68507701"/>
                  </a:ext>
                </a:extLst>
              </a:tr>
            </a:tbl>
          </a:graphicData>
        </a:graphic>
      </p:graphicFrame>
    </p:spTree>
    <p:extLst>
      <p:ext uri="{BB962C8B-B14F-4D97-AF65-F5344CB8AC3E}">
        <p14:creationId xmlns:p14="http://schemas.microsoft.com/office/powerpoint/2010/main" val="6512498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389A2-9C3B-F3CB-B055-EB7CD3903AAD}"/>
              </a:ext>
            </a:extLst>
          </p:cNvPr>
          <p:cNvSpPr>
            <a:spLocks noGrp="1"/>
          </p:cNvSpPr>
          <p:nvPr>
            <p:ph type="title"/>
          </p:nvPr>
        </p:nvSpPr>
        <p:spPr/>
        <p:txBody>
          <a:bodyPr/>
          <a:lstStyle/>
          <a:p>
            <a:r>
              <a:rPr lang="sr-Latn-RS" dirty="0"/>
              <a:t>Anonimizacija</a:t>
            </a:r>
            <a:endParaRPr lang="en-US" dirty="0"/>
          </a:p>
        </p:txBody>
      </p:sp>
      <p:sp>
        <p:nvSpPr>
          <p:cNvPr id="3" name="Content Placeholder 2">
            <a:extLst>
              <a:ext uri="{FF2B5EF4-FFF2-40B4-BE49-F238E27FC236}">
                <a16:creationId xmlns:a16="http://schemas.microsoft.com/office/drawing/2014/main" id="{1F13B298-8BEB-CD3D-DEFD-B606B9A372F8}"/>
              </a:ext>
            </a:extLst>
          </p:cNvPr>
          <p:cNvSpPr>
            <a:spLocks noGrp="1"/>
          </p:cNvSpPr>
          <p:nvPr>
            <p:ph idx="1"/>
          </p:nvPr>
        </p:nvSpPr>
        <p:spPr>
          <a:xfrm>
            <a:off x="838200" y="1825625"/>
            <a:ext cx="5109594" cy="4351338"/>
          </a:xfrm>
        </p:spPr>
        <p:txBody>
          <a:bodyPr>
            <a:normAutofit lnSpcReduction="10000"/>
          </a:bodyPr>
          <a:lstStyle/>
          <a:p>
            <a:r>
              <a:rPr lang="sr-Latn-RS" dirty="0"/>
              <a:t>Anonimizacija podataka podrazumeva kreiranje nove tabele gde se identifikatori koji mogu da povežu pojedinca sa podacima ili potpuno brišu ili enkriptuju.</a:t>
            </a:r>
          </a:p>
          <a:p>
            <a:r>
              <a:rPr lang="sr-Latn-RS" dirty="0"/>
              <a:t>Razlika sa Pseudonomizacijom je ta što je anonimizacija nepovratan proces, odnosno podaci se ne mogu povezati sa originalima.</a:t>
            </a:r>
            <a:endParaRPr lang="en-US" dirty="0"/>
          </a:p>
        </p:txBody>
      </p:sp>
      <p:pic>
        <p:nvPicPr>
          <p:cNvPr id="4" name="Picture 3">
            <a:extLst>
              <a:ext uri="{FF2B5EF4-FFF2-40B4-BE49-F238E27FC236}">
                <a16:creationId xmlns:a16="http://schemas.microsoft.com/office/drawing/2014/main" id="{F1AD9DBA-36D9-8109-B2F6-50AB9235A58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554975" y="722049"/>
            <a:ext cx="4510523" cy="2495383"/>
          </a:xfrm>
          <a:prstGeom prst="rect">
            <a:avLst/>
          </a:prstGeom>
        </p:spPr>
      </p:pic>
      <p:pic>
        <p:nvPicPr>
          <p:cNvPr id="5" name="Picture 4">
            <a:extLst>
              <a:ext uri="{FF2B5EF4-FFF2-40B4-BE49-F238E27FC236}">
                <a16:creationId xmlns:a16="http://schemas.microsoft.com/office/drawing/2014/main" id="{75EFF345-E817-0467-7B78-432208D85A9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35404" y="3546192"/>
            <a:ext cx="4588398" cy="2539424"/>
          </a:xfrm>
          <a:prstGeom prst="rect">
            <a:avLst/>
          </a:prstGeom>
        </p:spPr>
      </p:pic>
    </p:spTree>
    <p:extLst>
      <p:ext uri="{BB962C8B-B14F-4D97-AF65-F5344CB8AC3E}">
        <p14:creationId xmlns:p14="http://schemas.microsoft.com/office/powerpoint/2010/main" val="35008700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609CBE-90B9-2E56-0273-6E38C09366B0}"/>
              </a:ext>
            </a:extLst>
          </p:cNvPr>
          <p:cNvSpPr>
            <a:spLocks noGrp="1"/>
          </p:cNvSpPr>
          <p:nvPr>
            <p:ph type="title"/>
          </p:nvPr>
        </p:nvSpPr>
        <p:spPr/>
        <p:txBody>
          <a:bodyPr/>
          <a:lstStyle/>
          <a:p>
            <a:r>
              <a:rPr lang="sr-Latn-RS" dirty="0"/>
              <a:t>Maskiranje podataka u Postgresu</a:t>
            </a:r>
            <a:endParaRPr lang="en-US" dirty="0"/>
          </a:p>
        </p:txBody>
      </p:sp>
      <p:sp>
        <p:nvSpPr>
          <p:cNvPr id="3" name="Content Placeholder 2">
            <a:extLst>
              <a:ext uri="{FF2B5EF4-FFF2-40B4-BE49-F238E27FC236}">
                <a16:creationId xmlns:a16="http://schemas.microsoft.com/office/drawing/2014/main" id="{283BF396-5C3D-705C-1862-FED852048815}"/>
              </a:ext>
            </a:extLst>
          </p:cNvPr>
          <p:cNvSpPr>
            <a:spLocks noGrp="1"/>
          </p:cNvSpPr>
          <p:nvPr>
            <p:ph idx="1"/>
          </p:nvPr>
        </p:nvSpPr>
        <p:spPr/>
        <p:txBody>
          <a:bodyPr>
            <a:normAutofit fontScale="92500" lnSpcReduction="10000"/>
          </a:bodyPr>
          <a:lstStyle/>
          <a:p>
            <a:r>
              <a:rPr lang="sr-Latn-RS" dirty="0"/>
              <a:t>PostgreSQL je open source objektno relaciona baza podataka koja koristi i znatno proširuje standardni SQL.</a:t>
            </a:r>
          </a:p>
          <a:p>
            <a:r>
              <a:rPr lang="sr-Latn-RS" dirty="0"/>
              <a:t>Jedan od najpopularnijih, ako ne i najpopularniji paket ili ekstenzija za PostgreSQL koja ovo ostvaruje je PostgreSQL Anonymizer. Njihov pristup maskiranju je deklarativan, što znači da se koristi PostgreSQL Data Definition Language (DDL) kako bi se nad samom tabelom definisala pravila koja se trebaju pratiti.</a:t>
            </a:r>
          </a:p>
          <a:p>
            <a:r>
              <a:rPr lang="sr-Latn-RS" dirty="0"/>
              <a:t>Glavna ideja iza ovog pristupa je da oni koji rade na razvoju aplikacije, odnosno develiperi ili programeri, najbolje znaju šta treba raditi sa podacima, kako se modeluju i transformišu, pa da u skladu s tim pravila trebaju biti definisama u samoj šemi. Ovaj princip tim iza ekstenzije naziva </a:t>
            </a:r>
            <a:r>
              <a:rPr lang="sr-Latn-RS" b="1" dirty="0"/>
              <a:t>anonimizacija po dizajnu.</a:t>
            </a:r>
            <a:endParaRPr lang="en-US" dirty="0"/>
          </a:p>
        </p:txBody>
      </p:sp>
    </p:spTree>
    <p:extLst>
      <p:ext uri="{BB962C8B-B14F-4D97-AF65-F5344CB8AC3E}">
        <p14:creationId xmlns:p14="http://schemas.microsoft.com/office/powerpoint/2010/main" val="27075546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392F8-3F22-C269-4344-DE5195B7D63E}"/>
              </a:ext>
            </a:extLst>
          </p:cNvPr>
          <p:cNvSpPr>
            <a:spLocks noGrp="1"/>
          </p:cNvSpPr>
          <p:nvPr>
            <p:ph type="title"/>
          </p:nvPr>
        </p:nvSpPr>
        <p:spPr/>
        <p:txBody>
          <a:bodyPr/>
          <a:lstStyle/>
          <a:p>
            <a:r>
              <a:rPr lang="sr-Latn-RS" dirty="0"/>
              <a:t>Definisanje maski</a:t>
            </a:r>
            <a:endParaRPr lang="en-US" dirty="0"/>
          </a:p>
        </p:txBody>
      </p:sp>
      <p:sp>
        <p:nvSpPr>
          <p:cNvPr id="3" name="Content Placeholder 2">
            <a:extLst>
              <a:ext uri="{FF2B5EF4-FFF2-40B4-BE49-F238E27FC236}">
                <a16:creationId xmlns:a16="http://schemas.microsoft.com/office/drawing/2014/main" id="{D512226B-0DB6-0191-8BE6-67DAB0605379}"/>
              </a:ext>
            </a:extLst>
          </p:cNvPr>
          <p:cNvSpPr>
            <a:spLocks noGrp="1"/>
          </p:cNvSpPr>
          <p:nvPr>
            <p:ph idx="1"/>
          </p:nvPr>
        </p:nvSpPr>
        <p:spPr/>
        <p:txBody>
          <a:bodyPr>
            <a:normAutofit fontScale="77500" lnSpcReduction="20000"/>
          </a:bodyPr>
          <a:lstStyle/>
          <a:p>
            <a:r>
              <a:rPr lang="sr-Latn-RS" dirty="0"/>
              <a:t>Maske se u postgresu definišu preko bezbednosnih labela. Labela se može primeniti na tabeli, koloni, pogledu i dosta tome. Neka osnovna sintaksa postavljanja jedne labele je:</a:t>
            </a:r>
            <a:endParaRPr lang="en-US" dirty="0"/>
          </a:p>
          <a:p>
            <a:pPr marL="0" indent="0">
              <a:buNone/>
            </a:pPr>
            <a:r>
              <a:rPr lang="sr-Latn-RS" dirty="0"/>
              <a:t>SECURITY LABEL FOR selinux ON TABLE mytable IS 'system_u:object_r:sepgsql_table_t:s0';</a:t>
            </a:r>
            <a:endParaRPr lang="en-US" dirty="0"/>
          </a:p>
          <a:p>
            <a:r>
              <a:rPr lang="sr-Latn-RS" dirty="0"/>
              <a:t>Slično tome, labela se ukida na sledeći način:</a:t>
            </a:r>
            <a:endParaRPr lang="en-US" dirty="0"/>
          </a:p>
          <a:p>
            <a:pPr marL="0" indent="0">
              <a:buNone/>
            </a:pPr>
            <a:r>
              <a:rPr lang="sr-Latn-RS" dirty="0"/>
              <a:t>SECURITY LABEL FOR selinux ON TABLE mytable IS NULL;</a:t>
            </a:r>
          </a:p>
          <a:p>
            <a:r>
              <a:rPr lang="sr-Latn-RS" dirty="0"/>
              <a:t>Pravila za maskiranje predstavljaju skup instrukcija koje određuju na koji način će određeni podaci biti anonimizovani. Ona se čuvaju u samoj šemi baze podataka i definišu korišćenjem PostgreSQL mehanizma pod nazivom security labels. Na primer, moguće je odrediti da se prezime korisnika zameni nasumično generisanim prezimenom, dok se identifikacioni broj postavlja na NULL vrednost.</a:t>
            </a:r>
          </a:p>
          <a:p>
            <a:r>
              <a:rPr lang="sr-Latn-RS" dirty="0"/>
              <a:t>Ovo inače nije standardni SQL mehanizam, već jedna od nadgradnji kod postgresa.</a:t>
            </a:r>
            <a:endParaRPr lang="en-US" dirty="0"/>
          </a:p>
          <a:p>
            <a:endParaRPr lang="en-US" dirty="0"/>
          </a:p>
        </p:txBody>
      </p:sp>
    </p:spTree>
    <p:extLst>
      <p:ext uri="{BB962C8B-B14F-4D97-AF65-F5344CB8AC3E}">
        <p14:creationId xmlns:p14="http://schemas.microsoft.com/office/powerpoint/2010/main" val="4769718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62CE62-A333-857B-E40C-C27D76816FA5}"/>
              </a:ext>
            </a:extLst>
          </p:cNvPr>
          <p:cNvSpPr>
            <a:spLocks noGrp="1"/>
          </p:cNvSpPr>
          <p:nvPr>
            <p:ph type="title"/>
          </p:nvPr>
        </p:nvSpPr>
        <p:spPr/>
        <p:txBody>
          <a:bodyPr/>
          <a:lstStyle/>
          <a:p>
            <a:r>
              <a:rPr lang="sr-Latn-RS" dirty="0"/>
              <a:t>Pravila i ograničenja maskiranja</a:t>
            </a:r>
            <a:endParaRPr lang="en-US" dirty="0"/>
          </a:p>
        </p:txBody>
      </p:sp>
      <p:sp>
        <p:nvSpPr>
          <p:cNvPr id="3" name="Content Placeholder 2">
            <a:extLst>
              <a:ext uri="{FF2B5EF4-FFF2-40B4-BE49-F238E27FC236}">
                <a16:creationId xmlns:a16="http://schemas.microsoft.com/office/drawing/2014/main" id="{69BDD4AD-71D8-9D4F-BEA1-8C29D7EDBCE2}"/>
              </a:ext>
            </a:extLst>
          </p:cNvPr>
          <p:cNvSpPr>
            <a:spLocks noGrp="1"/>
          </p:cNvSpPr>
          <p:nvPr>
            <p:ph idx="1"/>
          </p:nvPr>
        </p:nvSpPr>
        <p:spPr/>
        <p:txBody>
          <a:bodyPr>
            <a:normAutofit fontScale="92500" lnSpcReduction="20000"/>
          </a:bodyPr>
          <a:lstStyle/>
          <a:p>
            <a:r>
              <a:rPr lang="sr-Latn-RS" dirty="0"/>
              <a:t>Pored podrazumevane politike pod nazivom „anon“, PostgreSQL Anonymizer podržava i više različitih politika maskiranja. Na primer, jedna politika može biti namenjena programerima koji koriste nasumične podatke za testiranje, dok druga može služiti analitičarima kojima su potrebni stvarni statistički podaci, ali bez otkrivanja identiteta korisnika. Svaka korisnička uloga može koristiti samo jednu aktivnu politiku maskiranja.</a:t>
            </a:r>
          </a:p>
          <a:p>
            <a:r>
              <a:rPr lang="sr-Latn-RS" dirty="0"/>
              <a:t>Ne može se maskirati primarni ključ. Tim iza postgres Anonymizera zbog toga uvek preporučuje surogat ključeve umesto prirodnih koji bi mogli da sadrže neke osetljive podatke.</a:t>
            </a:r>
          </a:p>
          <a:p>
            <a:r>
              <a:rPr lang="sr-Latn-RS" dirty="0"/>
              <a:t>Maskiranje može narušiti integritet podataka ukoliko se, na primer, kolona koja ne dozvoljava NULL vrednosti maskira upravo takvom vrednošću. Odgovornost za pravilno definisanje pravila ostaje na administratoru ili programeru.</a:t>
            </a:r>
            <a:endParaRPr lang="en-US" dirty="0"/>
          </a:p>
        </p:txBody>
      </p:sp>
    </p:spTree>
    <p:extLst>
      <p:ext uri="{BB962C8B-B14F-4D97-AF65-F5344CB8AC3E}">
        <p14:creationId xmlns:p14="http://schemas.microsoft.com/office/powerpoint/2010/main" val="40441730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CFF42-1250-74E7-FCD3-ED057A9411F7}"/>
              </a:ext>
            </a:extLst>
          </p:cNvPr>
          <p:cNvSpPr>
            <a:spLocks noGrp="1"/>
          </p:cNvSpPr>
          <p:nvPr>
            <p:ph type="title"/>
          </p:nvPr>
        </p:nvSpPr>
        <p:spPr/>
        <p:txBody>
          <a:bodyPr/>
          <a:lstStyle/>
          <a:p>
            <a:r>
              <a:rPr lang="sr-Latn-RS" dirty="0"/>
              <a:t>Maskiranje postgres data wrapper</a:t>
            </a:r>
            <a:endParaRPr lang="en-US" dirty="0"/>
          </a:p>
        </p:txBody>
      </p:sp>
      <p:sp>
        <p:nvSpPr>
          <p:cNvPr id="3" name="Content Placeholder 2">
            <a:extLst>
              <a:ext uri="{FF2B5EF4-FFF2-40B4-BE49-F238E27FC236}">
                <a16:creationId xmlns:a16="http://schemas.microsoft.com/office/drawing/2014/main" id="{DB71CEF8-A5A9-AA96-A91A-2F162E640090}"/>
              </a:ext>
            </a:extLst>
          </p:cNvPr>
          <p:cNvSpPr>
            <a:spLocks noGrp="1"/>
          </p:cNvSpPr>
          <p:nvPr>
            <p:ph idx="1"/>
          </p:nvPr>
        </p:nvSpPr>
        <p:spPr>
          <a:xfrm>
            <a:off x="838200" y="1825625"/>
            <a:ext cx="4899870" cy="4351338"/>
          </a:xfrm>
        </p:spPr>
        <p:txBody>
          <a:bodyPr>
            <a:normAutofit fontScale="85000" lnSpcReduction="10000"/>
          </a:bodyPr>
          <a:lstStyle/>
          <a:p>
            <a:r>
              <a:rPr lang="sr-Latn-RS" dirty="0"/>
              <a:t>Princip maskiranja pomoću data wrapper-a jeste taj da se postgres koristi kao maskirajući proksi ispred nekog tipa eksternog izvora podataka. Primera radi, nek je ovo jedan .csv fajl:</a:t>
            </a:r>
            <a:endParaRPr lang="en-US" dirty="0"/>
          </a:p>
          <a:p>
            <a:pPr marL="0" indent="0">
              <a:buNone/>
            </a:pPr>
            <a:r>
              <a:rPr lang="en-US" dirty="0"/>
              <a:t>Mon Nov 04 08:25:32 2024        </a:t>
            </a:r>
            <a:r>
              <a:rPr lang="en-US" dirty="0" err="1"/>
              <a:t>sarah</a:t>
            </a:r>
            <a:r>
              <a:rPr lang="en-US" dirty="0"/>
              <a:t>   10.0.0.45       </a:t>
            </a:r>
            <a:r>
              <a:rPr lang="en-US" dirty="0" err="1"/>
              <a:t>view_dashboard</a:t>
            </a:r>
            <a:endParaRPr lang="en-US" dirty="0"/>
          </a:p>
          <a:p>
            <a:pPr marL="0" indent="0">
              <a:buNone/>
            </a:pPr>
            <a:r>
              <a:rPr lang="en-US" dirty="0"/>
              <a:t>Mon Nov 04 09:15:00 2024        mike    172.16.0.89     </a:t>
            </a:r>
            <a:r>
              <a:rPr lang="en-US" dirty="0" err="1"/>
              <a:t>update_profile</a:t>
            </a:r>
            <a:endParaRPr lang="en-US" dirty="0"/>
          </a:p>
          <a:p>
            <a:pPr marL="0" indent="0">
              <a:buNone/>
            </a:pPr>
            <a:r>
              <a:rPr lang="en-US" dirty="0"/>
              <a:t>Mon Nov 04 09:30:45 2024        </a:t>
            </a:r>
            <a:r>
              <a:rPr lang="en-US" dirty="0" err="1"/>
              <a:t>emma</a:t>
            </a:r>
            <a:r>
              <a:rPr lang="en-US" dirty="0"/>
              <a:t>    192.168.2.200   </a:t>
            </a:r>
            <a:r>
              <a:rPr lang="en-US" dirty="0" err="1"/>
              <a:t>download_report</a:t>
            </a:r>
            <a:endParaRPr lang="en-US" dirty="0"/>
          </a:p>
          <a:p>
            <a:endParaRPr lang="en-US" dirty="0"/>
          </a:p>
        </p:txBody>
      </p:sp>
      <p:pic>
        <p:nvPicPr>
          <p:cNvPr id="4" name="Picture 3">
            <a:extLst>
              <a:ext uri="{FF2B5EF4-FFF2-40B4-BE49-F238E27FC236}">
                <a16:creationId xmlns:a16="http://schemas.microsoft.com/office/drawing/2014/main" id="{F34BCABE-E41D-F60A-CCE1-9BD2F2981E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26822" y="2617365"/>
            <a:ext cx="5749598" cy="2816443"/>
          </a:xfrm>
          <a:prstGeom prst="rect">
            <a:avLst/>
          </a:prstGeom>
        </p:spPr>
      </p:pic>
    </p:spTree>
    <p:extLst>
      <p:ext uri="{BB962C8B-B14F-4D97-AF65-F5344CB8AC3E}">
        <p14:creationId xmlns:p14="http://schemas.microsoft.com/office/powerpoint/2010/main" val="20050330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2053939-4274-A7F2-9953-5F510A5155FE}"/>
              </a:ext>
            </a:extLst>
          </p:cNvPr>
          <p:cNvSpPr>
            <a:spLocks noGrp="1"/>
          </p:cNvSpPr>
          <p:nvPr>
            <p:ph idx="1"/>
          </p:nvPr>
        </p:nvSpPr>
        <p:spPr>
          <a:xfrm>
            <a:off x="838200" y="234892"/>
            <a:ext cx="4371363" cy="5942071"/>
          </a:xfrm>
        </p:spPr>
        <p:txBody>
          <a:bodyPr>
            <a:normAutofit fontScale="25000" lnSpcReduction="20000"/>
          </a:bodyPr>
          <a:lstStyle/>
          <a:p>
            <a:r>
              <a:rPr lang="sr-Latn-RS" sz="11200" dirty="0"/>
              <a:t>Tabela na osnovu ovog zapisa bi izgledala ovako:</a:t>
            </a:r>
            <a:endParaRPr lang="en-US" sz="11200" dirty="0"/>
          </a:p>
          <a:p>
            <a:pPr marL="0" indent="0">
              <a:buNone/>
            </a:pPr>
            <a:r>
              <a:rPr lang="en-US" sz="8000" dirty="0"/>
              <a:t>CREATE EXTENSION IF NOT EXISTS </a:t>
            </a:r>
            <a:r>
              <a:rPr lang="en-US" sz="8000" dirty="0" err="1"/>
              <a:t>file_fdw</a:t>
            </a:r>
            <a:r>
              <a:rPr lang="en-US" sz="8000" dirty="0"/>
              <a:t>;</a:t>
            </a:r>
          </a:p>
          <a:p>
            <a:pPr marL="0" indent="0">
              <a:buNone/>
            </a:pPr>
            <a:r>
              <a:rPr lang="en-US" sz="8000" dirty="0"/>
              <a:t>CREATE SERVER </a:t>
            </a:r>
            <a:r>
              <a:rPr lang="en-US" sz="8000" dirty="0" err="1"/>
              <a:t>external_files</a:t>
            </a:r>
            <a:r>
              <a:rPr lang="en-US" sz="8000" dirty="0"/>
              <a:t> FOREIGN DATA WRAPPER </a:t>
            </a:r>
            <a:r>
              <a:rPr lang="en-US" sz="8000" dirty="0" err="1"/>
              <a:t>file_fdw</a:t>
            </a:r>
            <a:r>
              <a:rPr lang="en-US" sz="8000" dirty="0"/>
              <a:t>;</a:t>
            </a:r>
          </a:p>
          <a:p>
            <a:pPr marL="0" indent="0">
              <a:buNone/>
            </a:pPr>
            <a:r>
              <a:rPr lang="en-US" sz="8000" dirty="0"/>
              <a:t> </a:t>
            </a:r>
          </a:p>
          <a:p>
            <a:pPr marL="0" indent="0">
              <a:buNone/>
            </a:pPr>
            <a:r>
              <a:rPr lang="en-US" sz="8000" dirty="0"/>
              <a:t>CREATE SCHEMA files;</a:t>
            </a:r>
          </a:p>
          <a:p>
            <a:pPr marL="0" indent="0">
              <a:buNone/>
            </a:pPr>
            <a:r>
              <a:rPr lang="en-US" sz="8000" dirty="0"/>
              <a:t> </a:t>
            </a:r>
          </a:p>
          <a:p>
            <a:pPr marL="0" indent="0">
              <a:buNone/>
            </a:pPr>
            <a:r>
              <a:rPr lang="en-US" sz="8000" dirty="0"/>
              <a:t>CREATE FOREIGN TABLE </a:t>
            </a:r>
            <a:r>
              <a:rPr lang="en-US" sz="8000" dirty="0" err="1"/>
              <a:t>files.app_log</a:t>
            </a:r>
            <a:endParaRPr lang="en-US" sz="8000" dirty="0"/>
          </a:p>
          <a:p>
            <a:pPr marL="0" indent="0">
              <a:buNone/>
            </a:pPr>
            <a:r>
              <a:rPr lang="en-US" sz="8000" dirty="0"/>
              <a:t>(</a:t>
            </a:r>
          </a:p>
          <a:p>
            <a:pPr marL="0" indent="0">
              <a:buNone/>
            </a:pPr>
            <a:r>
              <a:rPr lang="en-US" sz="8000" dirty="0"/>
              <a:t>    </a:t>
            </a:r>
            <a:r>
              <a:rPr lang="en-US" sz="8000" dirty="0" err="1"/>
              <a:t>tms</a:t>
            </a:r>
            <a:r>
              <a:rPr lang="en-US" sz="8000" dirty="0"/>
              <a:t>   TIMESTAMP,</a:t>
            </a:r>
          </a:p>
          <a:p>
            <a:pPr marL="0" indent="0">
              <a:buNone/>
            </a:pPr>
            <a:r>
              <a:rPr lang="en-US" sz="8000" dirty="0"/>
              <a:t>    login VARCHAR(255),</a:t>
            </a:r>
          </a:p>
          <a:p>
            <a:pPr marL="0" indent="0">
              <a:buNone/>
            </a:pPr>
            <a:r>
              <a:rPr lang="en-US" sz="8000" dirty="0"/>
              <a:t>    </a:t>
            </a:r>
            <a:r>
              <a:rPr lang="en-US" sz="8000" dirty="0" err="1"/>
              <a:t>ip</a:t>
            </a:r>
            <a:r>
              <a:rPr lang="en-US" sz="8000" dirty="0"/>
              <a:t> INET,</a:t>
            </a:r>
          </a:p>
          <a:p>
            <a:pPr marL="0" indent="0">
              <a:buNone/>
            </a:pPr>
            <a:r>
              <a:rPr lang="en-US" sz="8000" dirty="0"/>
              <a:t>    action TEXT</a:t>
            </a:r>
          </a:p>
          <a:p>
            <a:pPr marL="0" indent="0">
              <a:buNone/>
            </a:pPr>
            <a:r>
              <a:rPr lang="en-US" sz="8000" dirty="0"/>
              <a:t>)</a:t>
            </a:r>
          </a:p>
          <a:p>
            <a:pPr marL="0" indent="0">
              <a:buNone/>
            </a:pPr>
            <a:r>
              <a:rPr lang="en-US" sz="8000" dirty="0"/>
              <a:t>  SERVER </a:t>
            </a:r>
            <a:r>
              <a:rPr lang="en-US" sz="8000" dirty="0" err="1"/>
              <a:t>external_files</a:t>
            </a:r>
            <a:endParaRPr lang="en-US" sz="8000" dirty="0"/>
          </a:p>
          <a:p>
            <a:pPr marL="0" indent="0">
              <a:buNone/>
            </a:pPr>
            <a:r>
              <a:rPr lang="en-US" sz="8000" dirty="0"/>
              <a:t>  OPTIONS ( filename '/</a:t>
            </a:r>
            <a:r>
              <a:rPr lang="en-US" sz="8000" dirty="0" err="1"/>
              <a:t>tmp</a:t>
            </a:r>
            <a:r>
              <a:rPr lang="en-US" sz="8000" dirty="0"/>
              <a:t>/app.log' )</a:t>
            </a:r>
            <a:r>
              <a:rPr lang="sr-Latn-RS" dirty="0"/>
              <a:t> </a:t>
            </a:r>
            <a:endParaRPr lang="en-US" dirty="0"/>
          </a:p>
        </p:txBody>
      </p:sp>
      <p:sp>
        <p:nvSpPr>
          <p:cNvPr id="4" name="TextBox 3">
            <a:extLst>
              <a:ext uri="{FF2B5EF4-FFF2-40B4-BE49-F238E27FC236}">
                <a16:creationId xmlns:a16="http://schemas.microsoft.com/office/drawing/2014/main" id="{9CDAA0E4-7269-7179-8FD8-D6513010977F}"/>
              </a:ext>
            </a:extLst>
          </p:cNvPr>
          <p:cNvSpPr txBox="1"/>
          <p:nvPr/>
        </p:nvSpPr>
        <p:spPr>
          <a:xfrm>
            <a:off x="5878546" y="234892"/>
            <a:ext cx="5798930" cy="5355312"/>
          </a:xfrm>
          <a:prstGeom prst="rect">
            <a:avLst/>
          </a:prstGeom>
          <a:noFill/>
        </p:spPr>
        <p:txBody>
          <a:bodyPr wrap="square" rtlCol="0">
            <a:spAutoFit/>
          </a:bodyPr>
          <a:lstStyle/>
          <a:p>
            <a:r>
              <a:rPr lang="sr-Latn-RS" dirty="0"/>
              <a:t>Sada se mogu definisati pravila za maskiranje određenih kolona na sledeći način:</a:t>
            </a:r>
            <a:endParaRPr lang="en-US" dirty="0"/>
          </a:p>
          <a:p>
            <a:r>
              <a:rPr lang="en-US" dirty="0"/>
              <a:t>SECURITY LABEL FOR anon ON COLUMN </a:t>
            </a:r>
            <a:r>
              <a:rPr lang="en-US" dirty="0" err="1"/>
              <a:t>files.app_log.login</a:t>
            </a:r>
            <a:endParaRPr lang="en-US" dirty="0"/>
          </a:p>
          <a:p>
            <a:r>
              <a:rPr lang="en-US" dirty="0"/>
              <a:t>  IS 'MASKED WITH VALUE $$CONFIDENTIAL$$';</a:t>
            </a:r>
          </a:p>
          <a:p>
            <a:r>
              <a:rPr lang="en-US" dirty="0"/>
              <a:t> </a:t>
            </a:r>
          </a:p>
          <a:p>
            <a:r>
              <a:rPr lang="en-US" dirty="0"/>
              <a:t>SECURITY LABEL FOR anon ON COLUMN </a:t>
            </a:r>
            <a:r>
              <a:rPr lang="en-US" dirty="0" err="1"/>
              <a:t>files.app_log.ip</a:t>
            </a:r>
            <a:endParaRPr lang="en-US" dirty="0"/>
          </a:p>
          <a:p>
            <a:r>
              <a:rPr lang="en-US" dirty="0"/>
              <a:t>  IS 'MASKED WITH FUNCTION anon.dummy_ipv4()';</a:t>
            </a:r>
          </a:p>
          <a:p>
            <a:r>
              <a:rPr lang="sr-Latn-RS" dirty="0"/>
              <a:t>Rezultat jednog upita bi sad dao ovakve rezultate:</a:t>
            </a:r>
            <a:endParaRPr lang="en-US" dirty="0"/>
          </a:p>
          <a:p>
            <a:r>
              <a:rPr lang="en-US" dirty="0"/>
              <a:t>SET ROLE </a:t>
            </a:r>
            <a:r>
              <a:rPr lang="en-US" dirty="0" err="1"/>
              <a:t>some_masked_user</a:t>
            </a:r>
            <a:r>
              <a:rPr lang="en-US" dirty="0"/>
              <a:t>;</a:t>
            </a:r>
          </a:p>
          <a:p>
            <a:r>
              <a:rPr lang="en-US" dirty="0"/>
              <a:t> </a:t>
            </a:r>
          </a:p>
          <a:p>
            <a:r>
              <a:rPr lang="en-US" dirty="0"/>
              <a:t>SELECT * FROM </a:t>
            </a:r>
            <a:r>
              <a:rPr lang="en-US" dirty="0" err="1"/>
              <a:t>files.app_log</a:t>
            </a:r>
            <a:r>
              <a:rPr lang="en-US" dirty="0"/>
              <a:t> LIMIT 1;</a:t>
            </a:r>
          </a:p>
          <a:p>
            <a:r>
              <a:rPr lang="en-US" dirty="0"/>
              <a:t>           </a:t>
            </a:r>
            <a:r>
              <a:rPr lang="en-US" dirty="0" err="1"/>
              <a:t>tms</a:t>
            </a:r>
            <a:r>
              <a:rPr lang="en-US" dirty="0"/>
              <a:t>            |    login     |      </a:t>
            </a:r>
            <a:r>
              <a:rPr lang="en-US" dirty="0" err="1"/>
              <a:t>ip</a:t>
            </a:r>
            <a:r>
              <a:rPr lang="en-US" dirty="0"/>
              <a:t>      |    action</a:t>
            </a:r>
          </a:p>
          <a:p>
            <a:r>
              <a:rPr lang="en-US" dirty="0"/>
              <a:t>--------------------------+--------------+--------------+---------------</a:t>
            </a:r>
          </a:p>
          <a:p>
            <a:r>
              <a:rPr lang="en-US" dirty="0"/>
              <a:t> Mon Nov 04 08:23:15 2024 | CONFIDENTIAL | 85.249.91.21 | </a:t>
            </a:r>
            <a:r>
              <a:rPr lang="en-US" dirty="0" err="1"/>
              <a:t>login_success</a:t>
            </a:r>
            <a:endParaRPr lang="en-US" dirty="0"/>
          </a:p>
          <a:p>
            <a:endParaRPr lang="en-US" dirty="0"/>
          </a:p>
          <a:p>
            <a:endParaRPr lang="en-US" dirty="0"/>
          </a:p>
        </p:txBody>
      </p:sp>
    </p:spTree>
    <p:extLst>
      <p:ext uri="{BB962C8B-B14F-4D97-AF65-F5344CB8AC3E}">
        <p14:creationId xmlns:p14="http://schemas.microsoft.com/office/powerpoint/2010/main" val="29525610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109</TotalTime>
  <Words>1352</Words>
  <Application>Microsoft Office PowerPoint</Application>
  <PresentationFormat>Widescreen</PresentationFormat>
  <Paragraphs>157</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Aptos</vt:lpstr>
      <vt:lpstr>Aptos Display</vt:lpstr>
      <vt:lpstr>Arial</vt:lpstr>
      <vt:lpstr>Office Theme</vt:lpstr>
      <vt:lpstr>Maskiranje podataka u PostgreSQL</vt:lpstr>
      <vt:lpstr>Šta je to maskiranje podataka?</vt:lpstr>
      <vt:lpstr>Šta se sve treba maskirati?</vt:lpstr>
      <vt:lpstr>Tipovi maskiranja</vt:lpstr>
      <vt:lpstr>Statičko maskiranje podataka</vt:lpstr>
      <vt:lpstr>Dinamičko maskiranje podataka</vt:lpstr>
      <vt:lpstr>Tehnike maskiranja podataka</vt:lpstr>
      <vt:lpstr>Pseudonomizacija</vt:lpstr>
      <vt:lpstr>Pseudonomizacija - primer</vt:lpstr>
      <vt:lpstr>Anonimizacija</vt:lpstr>
      <vt:lpstr>Maskiranje podataka u Postgresu</vt:lpstr>
      <vt:lpstr>Definisanje maski</vt:lpstr>
      <vt:lpstr>Pravila i ograničenja maskiranja</vt:lpstr>
      <vt:lpstr>Maskiranje postgres data wrapper</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RadiÅ¡a MarkoviÄ‡</dc:creator>
  <cp:lastModifiedBy>RadiÅ¡a MarkoviÄ‡</cp:lastModifiedBy>
  <cp:revision>56</cp:revision>
  <dcterms:created xsi:type="dcterms:W3CDTF">2026-06-09T18:21:01Z</dcterms:created>
  <dcterms:modified xsi:type="dcterms:W3CDTF">2026-06-23T09:40:28Z</dcterms:modified>
</cp:coreProperties>
</file>